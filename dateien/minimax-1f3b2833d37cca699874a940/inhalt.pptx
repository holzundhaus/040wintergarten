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40wintergarten.wordpress.com/2026/10/16/wintergarten-hamburg-hitzeschutz-konzept/" TargetMode="External"/><Relationship Id="rId3" Type="http://schemas.openxmlformats.org/officeDocument/2006/relationships/hyperlink" Target="https://holzundhaus.github.io/040wintergarten/dateien/minimax-1f3b2833d37cca699874a94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in Hamburg: zusammenhängendes Hitzeschutzkonzept für Hitzewellen · Erklärende Präsentation</a:t>
            </a:r>
          </a:p>
        </p:txBody>
      </p:sp>
      <p:sp>
        <p:nvSpPr>
          <p:cNvPr id="3" name="Content Placeholder 2"/>
          <p:cNvSpPr>
            <a:spLocks noGrp="1"/>
          </p:cNvSpPr>
          <p:nvPr>
            <p:ph idx="1"/>
          </p:nvPr>
        </p:nvSpPr>
        <p:spPr/>
        <p:txBody>
          <a:bodyPr/>
          <a:lstStyle/>
          <a:p>
            <a:r>
              <a:t>Überblick: Wer seinen Wintergarten in Hamburg für sommerliche Hitze fit machen möchte, stößt schnell an eine Grenze: Einzelne Maßnahmen wie eine Markise oder ein Lüfter entlasten den Raum nur kurzzeitig. Erst das Zusammenspiel mehrerer Bausteine – Speichermassen, Querlüftung und Nachtlüftung – verschiebt den Temperaturverlauf über den ganzen Tag spürbar. Dieser Ratgeber zeigt, wie Hausbesitzer ein zusammenhängendes Hitzeschutzkonzept für ihren Wintergarten entwickeln, ohne auf teure Einzelprodukte angewiesen zu sein.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einzelne Maßnahmen allein nicht ausreichen</a:t>
            </a:r>
          </a:p>
        </p:txBody>
      </p:sp>
      <p:sp>
        <p:nvSpPr>
          <p:cNvPr id="3" name="Content Placeholder 2"/>
          <p:cNvSpPr>
            <a:spLocks noGrp="1"/>
          </p:cNvSpPr>
          <p:nvPr>
            <p:ph idx="1"/>
          </p:nvPr>
        </p:nvSpPr>
        <p:spPr/>
        <p:txBody>
          <a:bodyPr/>
          <a:lstStyle/>
          <a:p>
            <a:pPr>
              <a:defRPr sz="1800"/>
            </a:pPr>
            <a:r>
              <a:t>Eine Markise an der Glasfläche, ein zusätzlicher Ventilator oder ein aufgestellter Eisbehälter – all das sind temporäre Linderungen, die an heißen Tagen mit Spitzentemperaturen schnell an ihre Grenzen stoßen. Der Grund: Ohne Speichermassen staut sich die Wärme unter dem Glasdach, die Beschattung gibt nach dem Sonnenuntergang nach, und die Raumtemperatur steigt bis in den späten Nachmittag weiter an. Erst wenn mehrere Mechanismen zeitlich abgestimmt zusammenarbeiten, entsteht ein Konzept, das über den ganzen Tag funktioniert. Dabei geht es nicht um teure Sonderlösungen, sondern um die richtige Planung von Elementen, die bei jedem Wintergarten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einzelne Maßnahmen allein nicht ausreichen</a:t>
            </a:r>
          </a:p>
        </p:txBody>
      </p:sp>
      <p:sp>
        <p:nvSpPr>
          <p:cNvPr id="3" name="Content Placeholder 2"/>
          <p:cNvSpPr>
            <a:spLocks noGrp="1"/>
          </p:cNvSpPr>
          <p:nvPr>
            <p:ph idx="1"/>
          </p:nvPr>
        </p:nvSpPr>
        <p:spPr/>
        <p:txBody>
          <a:bodyPr/>
          <a:lstStyle/>
          <a:p>
            <a:pPr>
              <a:defRPr sz="1800"/>
            </a:pPr>
            <a:r>
              <a:t>vorhanden oder ergänzbar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Speichermassen gezielt nutzen</a:t>
            </a:r>
          </a:p>
        </p:txBody>
      </p:sp>
      <p:sp>
        <p:nvSpPr>
          <p:cNvPr id="3" name="Content Placeholder 2"/>
          <p:cNvSpPr>
            <a:spLocks noGrp="1"/>
          </p:cNvSpPr>
          <p:nvPr>
            <p:ph idx="1"/>
          </p:nvPr>
        </p:nvSpPr>
        <p:spPr/>
        <p:txBody>
          <a:bodyPr/>
          <a:lstStyle/>
          <a:p>
            <a:pPr>
              <a:defRPr sz="1800"/>
            </a:pPr>
            <a:r>
              <a:t>Massive Baustoffe nehmen tagsüber Wärme auf und geben sie in der kühleren Nacht wieder ab. Dadurch verschieben sie die Temperaturspitzen zeitlich nach hinten und senken das Niveau im Raum spürbar. Besonders wirksam im Wintergarten: Bodenbeläge mit hoher Wärmekapazität wie Stein, Tonfliesen oder dunkler Beton, massive Innenwände zum Bestandshaus hin sowie große Pflanzgefäße und Möbel, die thermisch mitarbeiten. Entscheidend ist die Menge der verfügbaren Masse im Verhältnis zur Glasfläche. Ein Wintergarten mit großem Süddach braucht deutlich mehr Speichermasse als ein kompakter Bau mit überwiegender Ostausrichtung. Bei der Planung lässt sich of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Speichermassen gezielt nutzen</a:t>
            </a:r>
          </a:p>
        </p:txBody>
      </p:sp>
      <p:sp>
        <p:nvSpPr>
          <p:cNvPr id="3" name="Content Placeholder 2"/>
          <p:cNvSpPr>
            <a:spLocks noGrp="1"/>
          </p:cNvSpPr>
          <p:nvPr>
            <p:ph idx="1"/>
          </p:nvPr>
        </p:nvSpPr>
        <p:spPr/>
        <p:txBody>
          <a:bodyPr/>
          <a:lstStyle/>
          <a:p>
            <a:pPr>
              <a:defRPr sz="1800"/>
            </a:pPr>
            <a:r>
              <a:t>t schon durch die Wahl des Bodenbelags und der Möblierung viel erreichen, ohne bauliche Eingriffe vorzunehmen.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Querlüftung richtig aufbauen</a:t>
            </a:r>
          </a:p>
        </p:txBody>
      </p:sp>
      <p:sp>
        <p:nvSpPr>
          <p:cNvPr id="3" name="Content Placeholder 2"/>
          <p:cNvSpPr>
            <a:spLocks noGrp="1"/>
          </p:cNvSpPr>
          <p:nvPr>
            <p:ph idx="1"/>
          </p:nvPr>
        </p:nvSpPr>
        <p:spPr/>
        <p:txBody>
          <a:bodyPr/>
          <a:lstStyle/>
          <a:p>
            <a:pPr>
              <a:defRPr sz="1800"/>
            </a:pPr>
            <a:r>
              <a:t>Querlüftung funktioniert nur, wenn Luft tatsächlich durchströmen kann: Eine Öffnung lässt frische Luft herein, eine gegenüberliegende leitet die erwärmte Luft wieder hinaus. Entscheidend ist nicht die theoretische Öffnungsbreite, sondern der freie Querschnitt. Insektenschutzgitter, Pollenfilter und Türschwellen reduzieren ihn oft unbemerkt. Auch Hindernisse im Luftweg – dichte Regale, Vorhänge oder großflächige Pflanzenwände – bremsen die Strömung. Bei der Prüfung des Grundrisses sollten Hausbesitzer deshalb genau schauen, wo die gegenüberliegenden Öffnungen liegen und wie groß die durchströmte Fläche im Verhältnis zur Raumtiefe tatsächlich 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Querlüftung richtig aufbauen</a:t>
            </a:r>
          </a:p>
        </p:txBody>
      </p:sp>
      <p:sp>
        <p:nvSpPr>
          <p:cNvPr id="3" name="Content Placeholder 2"/>
          <p:cNvSpPr>
            <a:spLocks noGrp="1"/>
          </p:cNvSpPr>
          <p:nvPr>
            <p:ph idx="1"/>
          </p:nvPr>
        </p:nvSpPr>
        <p:spPr/>
        <p:txBody>
          <a:bodyPr/>
          <a:lstStyle/>
          <a:p>
            <a:pPr>
              <a:defRPr sz="1800"/>
            </a:pPr>
            <a:r>
              <a:t>st. Eine Faltwand zum Garten, Kippfenster an der Rückwand und Lüftungsflügel im Dach bilden ein gutes Basis-Setup für wirksamen Luftaustausch.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Nachtlüftung als zweite Säule nutzen</a:t>
            </a:r>
          </a:p>
        </p:txBody>
      </p:sp>
      <p:sp>
        <p:nvSpPr>
          <p:cNvPr id="3" name="Content Placeholder 2"/>
          <p:cNvSpPr>
            <a:spLocks noGrp="1"/>
          </p:cNvSpPr>
          <p:nvPr>
            <p:ph idx="1"/>
          </p:nvPr>
        </p:nvSpPr>
        <p:spPr/>
        <p:txBody>
          <a:bodyPr/>
          <a:lstStyle/>
          <a:p>
            <a:pPr>
              <a:defRPr sz="1800"/>
            </a:pPr>
            <a:r>
              <a:t>An Hitzetagen fällt die Außentemperatur nach Sonnenuntergang oft nur langsam ab. Liegt sie um 22 Uhr noch bei 24 Grad, bringt manuelles Lüften vor dem Schlafengehen wenig. Nachtlüftung wird erst wirksam, wenn die Außentemperatur spürbar unter der Raumtemperatur liegt. Dann aber muss die Öffnung ausreichend groß und automatisiert sein, denn in der Nacht manuell alle Lüftungsflügel zu betätigen, ist im Alltag unrealistisch. Eine motorische Öffnung mit Zeitschaltung leistet hier zuverlässige Arbeit, sofern Regen- und Windsensoren die Steuerung ergänzen und das Sicherheitskonzept des Wintergartens die Daueröffnung zulässt. Wer das Zusammenspiel 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Nachtlüftung als zweite Säule nutzen</a:t>
            </a:r>
          </a:p>
        </p:txBody>
      </p:sp>
      <p:sp>
        <p:nvSpPr>
          <p:cNvPr id="3" name="Content Placeholder 2"/>
          <p:cNvSpPr>
            <a:spLocks noGrp="1"/>
          </p:cNvSpPr>
          <p:nvPr>
            <p:ph idx="1"/>
          </p:nvPr>
        </p:nvSpPr>
        <p:spPr/>
        <p:txBody>
          <a:bodyPr/>
          <a:lstStyle/>
          <a:p>
            <a:pPr>
              <a:defRPr sz="1800"/>
            </a:pPr>
            <a:r>
              <a:t>on Speichermassen und Nachtlüftung richtig timt, startet am Folgemorgen auf einem deutlich niedrigeren Temperaturniveau.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Zusammenspiel über 24 Stunden</a:t>
            </a:r>
          </a:p>
        </p:txBody>
      </p:sp>
      <p:sp>
        <p:nvSpPr>
          <p:cNvPr id="3" name="Content Placeholder 2"/>
          <p:cNvSpPr>
            <a:spLocks noGrp="1"/>
          </p:cNvSpPr>
          <p:nvPr>
            <p:ph idx="1"/>
          </p:nvPr>
        </p:nvSpPr>
        <p:spPr/>
        <p:txBody>
          <a:bodyPr/>
          <a:lstStyle/>
          <a:p>
            <a:pPr>
              <a:defRPr sz="1800"/>
            </a:pPr>
            <a:r>
              <a:t>Erst die zeitliche Abfolge macht aus Einzelmaßnahmen ein schlüssiges Konzept. In der Praxis sieht das so aus: In den Morgenstunden wird gelüftet, solange die Außenluft kühler als der Raum ist. Sobald die Temperatur draußen steigt, schließt die Außenbeschattung und fängt die direkte Strahlung vor dem Glas ab. Die Speichermassen nehmen die Restwärme auf. Am späten Nachmittag, solange ein Temperaturgefälle nach außen besteht, öffnet die Querlüftung. In der Nacht übernehmen die großzügigen Nachtlüftungsöffnungen die Nachkühlung. Fällt ein Baustein aus – etwa weil eine Markise bei Wind einfährt –, müssen die übrigen Maßnahmen den Betriebszustand 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Zusammenspiel über 24 Stunden</a:t>
            </a:r>
          </a:p>
        </p:txBody>
      </p:sp>
      <p:sp>
        <p:nvSpPr>
          <p:cNvPr id="3" name="Content Placeholder 2"/>
          <p:cNvSpPr>
            <a:spLocks noGrp="1"/>
          </p:cNvSpPr>
          <p:nvPr>
            <p:ph idx="1"/>
          </p:nvPr>
        </p:nvSpPr>
        <p:spPr/>
        <p:txBody>
          <a:bodyPr/>
          <a:lstStyle/>
          <a:p>
            <a:pPr>
              <a:defRPr sz="1800"/>
            </a:pPr>
            <a:r>
              <a:t>ittragen. Genau dieses Zusammenspiel wird im Beratungsgespräch mit dem Fachbetrieb häufig übersprungen, obwohl es den Unterschied zwischen einer Produktliste und einem funktionierenden Konzept ausmacht.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im Gespräch mit dem Fachbetrieb geklärt werden sollte</a:t>
            </a:r>
          </a:p>
        </p:txBody>
      </p:sp>
      <p:sp>
        <p:nvSpPr>
          <p:cNvPr id="3" name="Content Placeholder 2"/>
          <p:cNvSpPr>
            <a:spLocks noGrp="1"/>
          </p:cNvSpPr>
          <p:nvPr>
            <p:ph idx="1"/>
          </p:nvPr>
        </p:nvSpPr>
        <p:spPr/>
        <p:txBody>
          <a:bodyPr/>
          <a:lstStyle/>
          <a:p>
            <a:pPr>
              <a:defRPr sz="1800"/>
            </a:pPr>
            <a:r>
              <a:t>Bevor Hausbesitzer einzelne Produkte ordern, lohnt sich die Abstimmung über das Gesamtkonzept. Wichtige Fragen: Welche Speichermassen sind im geplanten Aufbau bereits enthalten, und welche lassen sich sinnvoll ergänzen? Wie groß ist der freie Luftweg zwischen Zuluft und Abluft bei vollständig geöffneten Elementen? Werden Nachtlüftungsprofile automatisch aktiviert, und welche Sensoren steuern sie? Wie reagiert die Automation, wenn einzelne Antriebe ausfallen oder die Netzversorgung unterbrochen wird? Und an welchen Stellen kann Feuchte auftreten, wenn nachts gezielt gelüftet wird? Wer diese Punkte systematisch durchgeht, verschiebt die Planung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im Gespräch mit dem Fachbetrieb geklärt werden sollte</a:t>
            </a:r>
          </a:p>
        </p:txBody>
      </p:sp>
      <p:sp>
        <p:nvSpPr>
          <p:cNvPr id="3" name="Content Placeholder 2"/>
          <p:cNvSpPr>
            <a:spLocks noGrp="1"/>
          </p:cNvSpPr>
          <p:nvPr>
            <p:ph idx="1"/>
          </p:nvPr>
        </p:nvSpPr>
        <p:spPr/>
        <p:txBody>
          <a:bodyPr/>
          <a:lstStyle/>
          <a:p>
            <a:pPr>
              <a:defRPr sz="1800"/>
            </a:pPr>
            <a:r>
              <a:t> von einer Sammlung einzelner Produkte hin zu einem dokumentierten Ablauf, der über warme Tage hinweg zuverlässig funktioniert.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in Hamburg: zusammenhängendes Hitzeschutzkonzept für Hitzewellen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