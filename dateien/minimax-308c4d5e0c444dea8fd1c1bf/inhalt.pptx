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wordpress.com/2026/10/20/wintergarten-versicherungen-hamburg/" TargetMode="External"/><Relationship Id="rId3" Type="http://schemas.openxmlformats.org/officeDocument/2006/relationships/hyperlink" Target="https://holzundhaus.github.io/040wintergarten/dateien/minimax-308c4d5e0c444dea8fd1c1b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Hamburg: Welche Versicherungen vor der Inbetriebnahme zu prüfen sind · Erklärende Präsentation</a:t>
            </a:r>
          </a:p>
        </p:txBody>
      </p:sp>
      <p:sp>
        <p:nvSpPr>
          <p:cNvPr id="3" name="Content Placeholder 2"/>
          <p:cNvSpPr>
            <a:spLocks noGrp="1"/>
          </p:cNvSpPr>
          <p:nvPr>
            <p:ph idx="1"/>
          </p:nvPr>
        </p:nvSpPr>
        <p:spPr/>
        <p:txBody>
          <a:bodyPr/>
          <a:lstStyle/>
          <a:p>
            <a:r>
              <a:t>Überblick: Regenwasser von Carport und Terrassendach fachgerecht ableiten – das schützt Bausubstanz und Grundstück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Regenwasserableitung bei überdachten Außenanlagen wichtig ist</a:t>
            </a:r>
          </a:p>
        </p:txBody>
      </p:sp>
      <p:sp>
        <p:nvSpPr>
          <p:cNvPr id="3" name="Content Placeholder 2"/>
          <p:cNvSpPr>
            <a:spLocks noGrp="1"/>
          </p:cNvSpPr>
          <p:nvPr>
            <p:ph idx="1"/>
          </p:nvPr>
        </p:nvSpPr>
        <p:spPr/>
        <p:txBody>
          <a:bodyPr/>
          <a:lstStyle/>
          <a:p>
            <a:pPr>
              <a:defRPr sz="1800"/>
            </a:pPr>
            <a:r>
              <a:t>Carports und Terrassenüberdachungen entwässern Niederschlag konzentriert auf eine deutlich kleinere Fläche als eine klassische Dachfläche mit Rinnen und Fallrohren. Ohne durchdachte Ableitung trifft das Wasser direkt auf die Bodenplatte, sickert an den Hausfundamenten vorbei oder staut sich an Anschlusspunkten. Auf lange Sicht drohen Durchfeuchtungen, Erosion am Untergrund und Schäden an angrenzenden Bauteilen. Wer bei Planung und Ausführung auf eine saubere Entwässerung achtet, vermeidet Folgekosten und sorgt dafür, dass die Überdachung dauerhaft standsicher bleibt. Die Anforderungen unterscheiden sich je nach Bauweise: Ein Carport mit offen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Regenwasserableitung bei überdachten Außenanlagen wichtig ist</a:t>
            </a:r>
          </a:p>
        </p:txBody>
      </p:sp>
      <p:sp>
        <p:nvSpPr>
          <p:cNvPr id="3" name="Content Placeholder 2"/>
          <p:cNvSpPr>
            <a:spLocks noGrp="1"/>
          </p:cNvSpPr>
          <p:nvPr>
            <p:ph idx="1"/>
          </p:nvPr>
        </p:nvSpPr>
        <p:spPr/>
        <p:txBody>
          <a:bodyPr/>
          <a:lstStyle/>
          <a:p>
            <a:pPr>
              <a:defRPr sz="1800"/>
            </a:pPr>
            <a:r>
              <a:t>er Rückseite entwässert anders als eine geschlossene Terrassenüberdachung am Wohngebäude, und auch die örtlichen Gegebenheiten auf dem Grundstück spielen eine Rolle.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Planungsgrundlagen und örtliche Vorgaben prüfen</a:t>
            </a:r>
          </a:p>
        </p:txBody>
      </p:sp>
      <p:sp>
        <p:nvSpPr>
          <p:cNvPr id="3" name="Content Placeholder 2"/>
          <p:cNvSpPr>
            <a:spLocks noGrp="1"/>
          </p:cNvSpPr>
          <p:nvPr>
            <p:ph idx="1"/>
          </p:nvPr>
        </p:nvSpPr>
        <p:spPr/>
        <p:txBody>
          <a:bodyPr/>
          <a:lstStyle/>
          <a:p>
            <a:pPr>
              <a:defRPr sz="1800"/>
            </a:pPr>
            <a:r>
              <a:t>Bevor eine Ableitung geplant wird, sollten die Grundwasser- und Bodenverhältnisse auf dem Grundstück bekannt sein. Ist die Versickerung auf dem eigenen Grundstück möglich, kann Regenwasser direkt über eine geeignete Fläche ins Erdreich geleitet werden. In bebauten Lagen mit dichten Böden oder bei hohem Grundwasserstand ist eine Versickerung oft nicht zulässig – dann ist ein Anschluss an die öffentliche Kanalisation oder eine gedrosselte Einleitung erforderlich. Einige Kommunen unterscheiden dabei zwischen Niederschlagswasser von überdachten Flächen und von befestigten Flächen und regeln die Anschlusspflichten in ihrer Entwässerungssatzung. 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Planungsgrundlagen und örtliche Vorgaben prüfen</a:t>
            </a:r>
          </a:p>
        </p:txBody>
      </p:sp>
      <p:sp>
        <p:nvSpPr>
          <p:cNvPr id="3" name="Content Placeholder 2"/>
          <p:cNvSpPr>
            <a:spLocks noGrp="1"/>
          </p:cNvSpPr>
          <p:nvPr>
            <p:ph idx="1"/>
          </p:nvPr>
        </p:nvSpPr>
        <p:spPr/>
        <p:txBody>
          <a:bodyPr/>
          <a:lstStyle/>
          <a:p>
            <a:pPr>
              <a:defRPr sz="1800"/>
            </a:pPr>
            <a:r>
              <a:t>ese Satzungsregelungen sind vor der Ausführung zu prüfen, da sie direkt beeinflussen, welche Ableitungsart genehmigungsfähig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Lösungen für die Regenwasserableitung</a:t>
            </a:r>
          </a:p>
        </p:txBody>
      </p:sp>
      <p:sp>
        <p:nvSpPr>
          <p:cNvPr id="3" name="Content Placeholder 2"/>
          <p:cNvSpPr>
            <a:spLocks noGrp="1"/>
          </p:cNvSpPr>
          <p:nvPr>
            <p:ph idx="1"/>
          </p:nvPr>
        </p:nvSpPr>
        <p:spPr/>
        <p:txBody>
          <a:bodyPr/>
          <a:lstStyle/>
          <a:p>
            <a:pPr>
              <a:defRPr sz="1800"/>
            </a:pPr>
            <a:r>
              <a:t>Für Carports und Terrassenüberdachungen haben sich drei Ableitungswege bewährt. Erstens die wandseitige Rinne mit Fallrohr, die das Wasser gezielt in die bestehende Dachentwässerung des Wohngebäudes einspeist – vorausgesetzt, die Kanaldimension ist ausreichend. Zweitens die eigenständige Entwässerung über eine am Carportfuß verlegte Rinne, die das Wasser zu einem Sickerschacht oder einer Versickerungsmulde führt. Drittens die direkte Ableitung über Gefälle in eine auf dem Grundstück angelegte Rigole oder Zisterne, die das Wasser speichert und bei Bedarf für die Gartenbewässerung nutzbar macht. Die Wahl hängt von den örtlichen Gegebenheiten,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Lösungen für die Regenwasserableitung</a:t>
            </a:r>
          </a:p>
        </p:txBody>
      </p:sp>
      <p:sp>
        <p:nvSpPr>
          <p:cNvPr id="3" name="Content Placeholder 2"/>
          <p:cNvSpPr>
            <a:spLocks noGrp="1"/>
          </p:cNvSpPr>
          <p:nvPr>
            <p:ph idx="1"/>
          </p:nvPr>
        </p:nvSpPr>
        <p:spPr/>
        <p:txBody>
          <a:bodyPr/>
          <a:lstStyle/>
          <a:p>
            <a:pPr>
              <a:defRPr sz="1800"/>
            </a:pPr>
            <a:r>
              <a:t>em Platzbedarf und den Kosten ab. Wichtig ist, dass alle Anschlüsse dauerhaft dicht ausgeführt werden und das Gefälle gleichmäßig verläuft, damit sich kein Wasser staut.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regelmäßige Wartung einplanen</a:t>
            </a:r>
          </a:p>
        </p:txBody>
      </p:sp>
      <p:sp>
        <p:nvSpPr>
          <p:cNvPr id="3" name="Content Placeholder 2"/>
          <p:cNvSpPr>
            <a:spLocks noGrp="1"/>
          </p:cNvSpPr>
          <p:nvPr>
            <p:ph idx="1"/>
          </p:nvPr>
        </p:nvSpPr>
        <p:spPr/>
        <p:txBody>
          <a:bodyPr/>
          <a:lstStyle/>
          <a:p>
            <a:pPr>
              <a:defRPr sz="1800"/>
            </a:pPr>
            <a:r>
              <a:t>Eine Entwässerungsanlage funktioniert nur dann zuverlässig, wenn sie regelmäßig gewartet wird. Laub, Moos und Feinpartikel können Rinnen und Fallrohre verstopfen – besonders im Herbst und nach Stürmen. Eine jährliche Sichtprüfung und Reinigung der Abläufe gehört daher zur Instandhaltung. Bei Versickerungsmulden oder Rigolen sollte zusätzlich kontrolliert werden, dass die Sickerfähigkeit des Untergrunds erhalten bleibt. Starkniederschläge nehmen regional zu, was bei der Planung berücksichtigt werden sollte: Eine Entwässerung, die heute ausreichend dimensioniert erscheint, kann bei veränderten Niederschlagsmustern in einigen Jahren an ihre Gren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regelmäßige Wartung einplanen</a:t>
            </a:r>
          </a:p>
        </p:txBody>
      </p:sp>
      <p:sp>
        <p:nvSpPr>
          <p:cNvPr id="3" name="Content Placeholder 2"/>
          <p:cNvSpPr>
            <a:spLocks noGrp="1"/>
          </p:cNvSpPr>
          <p:nvPr>
            <p:ph idx="1"/>
          </p:nvPr>
        </p:nvSpPr>
        <p:spPr/>
        <p:txBody>
          <a:bodyPr/>
          <a:lstStyle/>
          <a:p>
            <a:pPr>
              <a:defRPr sz="1800"/>
            </a:pPr>
            <a:r>
              <a:t>ze stoßen. Wer bei der Erstinstallation auf einen gewissen Puffer achtet, ist für zukünftige Extremwetterereignisse besser gerüstet.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Hamburg: Welche Versicherungen vor der Inbetriebnahme zu prüfen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