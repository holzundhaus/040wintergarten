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40wintergarten.wordpress.com/2026/10/30/wintergarten-ausrichtung-hamburg-sonnenverlauf/" TargetMode="External"/><Relationship Id="rId3" Type="http://schemas.openxmlformats.org/officeDocument/2006/relationships/hyperlink" Target="https://holzundhaus.github.io/040wintergarten/dateien/minimax-ee58c1001e40b52086b4eaa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in Hamburg: Ausrichtung und Sonnenverlauf als Planungsgrundlage · Erklärende Präsentation</a:t>
            </a:r>
          </a:p>
        </p:txBody>
      </p:sp>
      <p:sp>
        <p:nvSpPr>
          <p:cNvPr id="3" name="Content Placeholder 2"/>
          <p:cNvSpPr>
            <a:spLocks noGrp="1"/>
          </p:cNvSpPr>
          <p:nvPr>
            <p:ph idx="1"/>
          </p:nvPr>
        </p:nvSpPr>
        <p:spPr/>
        <p:txBody>
          <a:bodyPr/>
          <a:lstStyle/>
          <a:p>
            <a:r>
              <a:t>Überblick: Ein Wintergarten passt nicht allein wegen seiner Himmelsrichtung gut zu einem Gebäude. Entscheidend ist, wie Sonne, Verschattung und gewünschte Nutzungszeiten zusammenpassen. Die folgende Orientierung hilft, die Standortwahl in Hamburg vor der Planung strukturiert vorzubereiten und dabei Wärmegewinn, sommerliche Überhitzung, Heizlast, Anschluss an das Haus sowie die tatsächliche Nutzbarkeit gemeinsam zu betrachten. Ausgangspunkt ist die Analyse von Ausrichtung und Sonnenverlauf, ergänzt um eine Checkliste für die Bestandsaufnahme.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Himmelsrichtung nach Nutzung auswählen</a:t>
            </a:r>
          </a:p>
        </p:txBody>
      </p:sp>
      <p:sp>
        <p:nvSpPr>
          <p:cNvPr id="3" name="Content Placeholder 2"/>
          <p:cNvSpPr>
            <a:spLocks noGrp="1"/>
          </p:cNvSpPr>
          <p:nvPr>
            <p:ph idx="1"/>
          </p:nvPr>
        </p:nvSpPr>
        <p:spPr/>
        <p:txBody>
          <a:bodyPr/>
          <a:lstStyle/>
          <a:p>
            <a:pPr>
              <a:defRPr sz="1800"/>
            </a:pPr>
            <a:r>
              <a:t>Süd ist vor allem dann interessant, wenn der Wintergarten mittags und am frühen Nachmittag genutzt werden soll. Die Fassade kann dann im Winter besonders viel Sonne aufnehmen und als thermischer Puffer zum Wohnraum dienen. West passt eher zu einem Raum, der nachmittags und abends im Mittelpunkt steht. Bei dieser Ausrichtung entstehen jedoch häufig hohe Wärmeeinträge am späten Nachmittag und am Abend, weshalb Außenbeschattung und Lüftung wichtig werden. Ost bietet gleichmäßiges Morgenlicht und ein sanfteres Aufwärmen. Sie kann für Frühstückssitze oder eine Nutzung am Vormittag geeignet sein, während die Mittagssonne fehlt. Bei Nord liegt der 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passende Himmelsrichtung nach Nutzung auswählen</a:t>
            </a:r>
          </a:p>
        </p:txBody>
      </p:sp>
      <p:sp>
        <p:nvSpPr>
          <p:cNvPr id="3" name="Content Placeholder 2"/>
          <p:cNvSpPr>
            <a:spLocks noGrp="1"/>
          </p:cNvSpPr>
          <p:nvPr>
            <p:ph idx="1"/>
          </p:nvPr>
        </p:nvSpPr>
        <p:spPr/>
        <p:txBody>
          <a:bodyPr/>
          <a:lstStyle/>
          <a:p>
            <a:pPr>
              <a:defRPr sz="1800"/>
            </a:pPr>
            <a:r>
              <a:t>chwerpunkt nicht auf solarem Gewinn, sondern auf einem gleichmäßig hellen, geschützten Raum. Das kann für Arbeitsbereiche, Ateliers oder einen Kaltwintergarten in der Übergangszeit sinnvoll sein. Die Wahl sollte daher an der geplanten Tagesnutzung und Nutzungsdauer ansetzen, statt allein nach der Himmelsrichtung zu erfolgen. Weitere Hinweise zur Hamburger Ausrichtung und zum Sonnenverlauf finden sich im Überblick zur wintergarten Ausrichtung Hamburg.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Sonne, Schatten und Jahreszeit gemeinsam prüfen</a:t>
            </a:r>
          </a:p>
        </p:txBody>
      </p:sp>
      <p:sp>
        <p:nvSpPr>
          <p:cNvPr id="3" name="Content Placeholder 2"/>
          <p:cNvSpPr>
            <a:spLocks noGrp="1"/>
          </p:cNvSpPr>
          <p:nvPr>
            <p:ph idx="1"/>
          </p:nvPr>
        </p:nvSpPr>
        <p:spPr/>
        <p:txBody>
          <a:bodyPr/>
          <a:lstStyle/>
          <a:p>
            <a:pPr>
              <a:defRPr sz="1800"/>
            </a:pPr>
            <a:r>
              <a:t>Die ideale Ausrichtung wird durch die Umgebung oft eingeschränkt. Höhere Nachbarhäuser, Bäume, Anbauten oder andere Gebäude können die Fassade zeitweise verschatten. Im Sommer ist der Sonnenstand höher als im Winter, wodurch sich die Beschattungs situation an derselben Fassade deutlich verändern kann. Deshalb sollte die geplante Stelle nicht nur an einem einzelnen Tag beurteilt werden. Hilfreich sind eine Beobachtung zur Mittagszeit an einem Sommertag und an einem Dezembertag sowie eine Notiz zu Bäumen und Nachbarbebauung in ihrem unterschiedlichen Jahreszustand. Auch eigene Anbauten müssen berücksichtigt werden, weil sie den Schattenwurf des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Sonne, Schatten und Jahreszeit gemeinsam prüfen</a:t>
            </a:r>
          </a:p>
        </p:txBody>
      </p:sp>
      <p:sp>
        <p:nvSpPr>
          <p:cNvPr id="3" name="Content Placeholder 2"/>
          <p:cNvSpPr>
            <a:spLocks noGrp="1"/>
          </p:cNvSpPr>
          <p:nvPr>
            <p:ph idx="1"/>
          </p:nvPr>
        </p:nvSpPr>
        <p:spPr/>
        <p:txBody>
          <a:bodyPr/>
          <a:lstStyle/>
          <a:p>
            <a:pPr>
              <a:defRPr sz="1800"/>
            </a:pPr>
            <a:r>
              <a:t> bestehenden Hauses verändern können. Für die weitere Einordnung bietet sich die Hamburger Sonnenverlaufs-Planung als Ergänzung zur eigenen Standortanalyse 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Heizlast und sommerliche Kühllast gemeinsam planen</a:t>
            </a:r>
          </a:p>
        </p:txBody>
      </p:sp>
      <p:sp>
        <p:nvSpPr>
          <p:cNvPr id="3" name="Content Placeholder 2"/>
          <p:cNvSpPr>
            <a:spLocks noGrp="1"/>
          </p:cNvSpPr>
          <p:nvPr>
            <p:ph idx="1"/>
          </p:nvPr>
        </p:nvSpPr>
        <p:spPr/>
        <p:txBody>
          <a:bodyPr/>
          <a:lstStyle/>
          <a:p>
            <a:pPr>
              <a:defRPr sz="1800"/>
            </a:pPr>
            <a:r>
              <a:t>Eine südseitige Lösung bringt meist einen hohen solaren Gewinn im Winter, kann im Sommer aber ohne wirksamen Sonnenschutz zu Überhitzung führen. Westliche und östliche Lagen erzeugen andere Tagesgänge: West bringt vor allem Wärme am Nachmittag und Abend, Ost eher Vormittagwärme. Bei einer nördlichen Lage ist der passive Sonnengewinn gering; eine ganzjährige beheizte Nutzung stellt dann höhere Anforderungen an Wärmedämmung und Heizung. Die tatsächliche Heizleistung lässt sich nicht aus einem einzelnen U-Wert ableiten. Glas, Profile, Boden, Hausanschluss, Ausrichtung, Verschattung und Nutzungsprofil müssen zusammen betrachtet werden. Für das 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Heizlast und sommerliche Kühllast gemeinsam planen</a:t>
            </a:r>
          </a:p>
        </p:txBody>
      </p:sp>
      <p:sp>
        <p:nvSpPr>
          <p:cNvPr id="3" name="Content Placeholder 2"/>
          <p:cNvSpPr>
            <a:spLocks noGrp="1"/>
          </p:cNvSpPr>
          <p:nvPr>
            <p:ph idx="1"/>
          </p:nvPr>
        </p:nvSpPr>
        <p:spPr/>
        <p:txBody>
          <a:bodyPr/>
          <a:lstStyle/>
          <a:p>
            <a:pPr>
              <a:defRPr sz="1800"/>
            </a:pPr>
            <a:r>
              <a:t>wünschte Raumklima gehören deshalb sowohl die Kühl- und Lüftungsstrategie als auch die Wärmeversorgung in dieselbe frühe Planung. Ein geeigneter Sonnenschutz außerhalb der Glasscheibe kann die sommerlichen Wärmeeinträge reduzieren, während die Öffnungs- und Lüftungsmöglichkeiten zur Fassade passen müssen.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mit der Ausrichtung verbinden</a:t>
            </a:r>
          </a:p>
        </p:txBody>
      </p:sp>
      <p:sp>
        <p:nvSpPr>
          <p:cNvPr id="3" name="Content Placeholder 2"/>
          <p:cNvSpPr>
            <a:spLocks noGrp="1"/>
          </p:cNvSpPr>
          <p:nvPr>
            <p:ph idx="1"/>
          </p:nvPr>
        </p:nvSpPr>
        <p:spPr/>
        <p:txBody>
          <a:bodyPr/>
          <a:lstStyle/>
          <a:p>
            <a:pPr>
              <a:defRPr sz="1800"/>
            </a:pPr>
            <a:r>
              <a:t>Die energetisch passende Fassade ist technisch nicht immer möglich. Bestehende Türen, Wandöffnungen, Dachkanten, Bodenhöhen, Hausanschlüsse und tragende Bauteile können die Anordnung des Wintergartens einschränken. Sinnvoll ist deshalb eine gemeinsame Skizze, in der Ausrichtung, Sonnenverlauf und Schnittstellen zum Haus sichtbar sind. Dabei lassen sich auch offene Punkte für die Bestandsaufnahme festhalten: Wo liegt die geplante Fassade, welche Nutzungszeiten sind vorgesehen, wann ist mit Verschattung zu rechnen und welche Anschlüsse müssen angepasst werden? So wird die Standortwahl zu einer nachvollziehbaren Entscheidung. Wer die Hamburger 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Bestandsaufnahme mit der Ausrichtung verbinden</a:t>
            </a:r>
          </a:p>
        </p:txBody>
      </p:sp>
      <p:sp>
        <p:nvSpPr>
          <p:cNvPr id="3" name="Content Placeholder 2"/>
          <p:cNvSpPr>
            <a:spLocks noGrp="1"/>
          </p:cNvSpPr>
          <p:nvPr>
            <p:ph idx="1"/>
          </p:nvPr>
        </p:nvSpPr>
        <p:spPr/>
        <p:txBody>
          <a:bodyPr/>
          <a:lstStyle/>
          <a:p>
            <a:pPr>
              <a:defRPr sz="1800"/>
            </a:pPr>
            <a:r>
              <a:t>usrichtung und den Sonnenverlauf zunächst mit Nutzung, Verschattung und Hausanschluss abgleicht, kann anschließend gezielt die passenden Detailfragen klären.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in Hamburg: Ausrichtung und Sonnenverlauf als Planungsgrundlage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