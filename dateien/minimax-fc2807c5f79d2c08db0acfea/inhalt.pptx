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wintergarten.blogspot.com/2026/10/wann-ein-wintergarten-die-immobilie-in.html" TargetMode="External"/><Relationship Id="rId3" Type="http://schemas.openxmlformats.org/officeDocument/2006/relationships/hyperlink" Target="https://holzundhaus.github.io/040wintergarten/dateien/minimax-fc2807c5f79d2c08db0acfe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Wintergarten die Immobilie in Hamburg aufwertet: Was Sachverständige konkret prüfen · Erklärende Präsentation</a:t>
            </a:r>
          </a:p>
        </p:txBody>
      </p:sp>
      <p:sp>
        <p:nvSpPr>
          <p:cNvPr id="3" name="Content Placeholder 2"/>
          <p:cNvSpPr>
            <a:spLocks noGrp="1"/>
          </p:cNvSpPr>
          <p:nvPr>
            <p:ph idx="1"/>
          </p:nvPr>
        </p:nvSpPr>
        <p:spPr/>
        <p:txBody>
          <a:bodyPr/>
          <a:lstStyle/>
          <a:p>
            <a:r>
              <a:t>Überblick: Ein Wintergarten kann den Wert einer Immobilie in Hamburg positiv beeinflussen, aber nicht automatisch. Entscheidend ist, ob Bauqualität, energetische Eigenschaften, Genehmigungsstand und Dokumentation zusammenpassen. Dieser Beitrag zeigt, welche Fragen Eigentümer, Kaufinteressierte, Banken und Sachverständige prüfen sollten, damit aus dem Anbau eine nachvollziehbare und belastbare Qualitätsverbesserung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Wertsteigerung beginnt mit dem Nutzungsziel</a:t>
            </a:r>
          </a:p>
        </p:txBody>
      </p:sp>
      <p:sp>
        <p:nvSpPr>
          <p:cNvPr id="3" name="Content Placeholder 2"/>
          <p:cNvSpPr>
            <a:spLocks noGrp="1"/>
          </p:cNvSpPr>
          <p:nvPr>
            <p:ph idx="1"/>
          </p:nvPr>
        </p:nvSpPr>
        <p:spPr/>
        <p:txBody>
          <a:bodyPr/>
          <a:lstStyle/>
          <a:p>
            <a:pPr>
              <a:defRPr sz="1800"/>
            </a:pPr>
            <a:r>
              <a:t>Die erste Frage lautet: Soll der Wintergarten als geschützter Sitzplatz oder als ganzjährig nutzbarer Wohnraum dienen? Beide Varianten stellen andere Anforderungen an Verglasung, Heizung, Lüftung, Beschattung und Genehmigungen. Ein Anbau ist nicht allein deshalb wertsteigernd, weil er zusätzliche Fläche schafft. Die Bewertung fällt positiver aus, wenn das Nutzungsziel klar ist, die technische Ausführung dazu passt und die zusätzliche Fläche im Alltag sinnvoll genutzt werden kann. Für Kaufinteressente ist außerdem wichtig, ob der Wintergarten beispielsweise als Essbereich, Homeoffice oder Pflanzenbereich geeignet ist. Eine erkennbare Trennung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Wertsteigerung beginnt mit dem Nutzungsziel</a:t>
            </a:r>
          </a:p>
        </p:txBody>
      </p:sp>
      <p:sp>
        <p:nvSpPr>
          <p:cNvPr id="3" name="Content Placeholder 2"/>
          <p:cNvSpPr>
            <a:spLocks noGrp="1"/>
          </p:cNvSpPr>
          <p:nvPr>
            <p:ph idx="1"/>
          </p:nvPr>
        </p:nvSpPr>
        <p:spPr/>
        <p:txBody>
          <a:bodyPr/>
          <a:lstStyle/>
          <a:p>
            <a:pPr>
              <a:defRPr sz="1800"/>
            </a:pPr>
            <a:r>
              <a:t>von Wohn- und Anbaufläche in den Plänen erleichtert die Einordnung.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Bauqualität an den Schnittstellen prüfen</a:t>
            </a:r>
          </a:p>
        </p:txBody>
      </p:sp>
      <p:sp>
        <p:nvSpPr>
          <p:cNvPr id="3" name="Content Placeholder 2"/>
          <p:cNvSpPr>
            <a:spLocks noGrp="1"/>
          </p:cNvSpPr>
          <p:nvPr>
            <p:ph idx="1"/>
          </p:nvPr>
        </p:nvSpPr>
        <p:spPr/>
        <p:txBody>
          <a:bodyPr/>
          <a:lstStyle/>
          <a:p>
            <a:pPr>
              <a:defRPr sz="1800"/>
            </a:pPr>
            <a:r>
              <a:t>Bei der Bauqualität wird nicht nur das sichtbare Ergebnis betrachtet. Sachverständige prüfen Tragwerk, Profilqualität, Dach und Glasaufbau ebenso wie den Anschluss an Fassade, Wandbefestigung und Anschlussbleche. Fundament, Abdichtung und Bodenaufbau müssen ebenfalls nachvollziehbar sein. Türen, Beschläge und Oberflächen beeinflussen zudem die langfristige Verlässlichkeit. Besonders relevant sind die Übergänge zwischen Bestandsgebäude und Anbau: Setzungen, Feuchtigkeitsschäden oder undichte Anschlüsse können die Bewertung deutlich mindern. Eine gute Dokumentation der ausgeführten Details ist deshalb kein Zusatz, sondern Teil der Werterhaltung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Bauqualität an den Schnittstellen prüfen</a:t>
            </a:r>
          </a:p>
        </p:txBody>
      </p:sp>
      <p:sp>
        <p:nvSpPr>
          <p:cNvPr id="3" name="Content Placeholder 2"/>
          <p:cNvSpPr>
            <a:spLocks noGrp="1"/>
          </p:cNvSpPr>
          <p:nvPr>
            <p:ph idx="1"/>
          </p:nvPr>
        </p:nvSpPr>
        <p:spPr/>
        <p:txBody>
          <a:bodyPr/>
          <a:lstStyle/>
          <a:p>
            <a:pPr>
              <a:defRPr sz="1800"/>
            </a:pPr>
            <a:r>
              <a:t>. Die Beschreibung der Kostenblöcke bietet dafür eine sinnvolle Grundlage, um technische Entscheidungen und ihren Nachweis später zu ordnen.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Kennwerte ernst nehmen</a:t>
            </a:r>
          </a:p>
        </p:txBody>
      </p:sp>
      <p:sp>
        <p:nvSpPr>
          <p:cNvPr id="3" name="Content Placeholder 2"/>
          <p:cNvSpPr>
            <a:spLocks noGrp="1"/>
          </p:cNvSpPr>
          <p:nvPr>
            <p:ph idx="1"/>
          </p:nvPr>
        </p:nvSpPr>
        <p:spPr/>
        <p:txBody>
          <a:bodyPr/>
          <a:lstStyle/>
          <a:p>
            <a:pPr>
              <a:defRPr sz="1800"/>
            </a:pPr>
            <a:r>
              <a:t>Die energetische Bewertung richtet sich nach der vorgesehenen Nutzung. Wärmeschutz- und Sonnenschutzverhalten der Verglasung, Wärmebrücken an Wandanschluss, Boden und Dach sowie Lüftungs- und Beschattungskonzept beeinflussen, ob ein Wintergarten als Wohnraum oder als saisonaler Sitzplatz geeignet ist. Auch Heizungsintegration und Steuerung gehören zu den Punkten, die in der Praxis Beachtung finden. Für eine belastbare Einordnung sollten Eigentümer den Glasaufbau, die U-Werte, das Lüftungskonzept und den dokumentierten Energiebedarf festhalten. Eine Energiemessung oder ein nachvollziehbarer Bedarf kann die Unterlagen ergänzen. Grundsätzlich gi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Kennwerte ernst nehmen</a:t>
            </a:r>
          </a:p>
        </p:txBody>
      </p:sp>
      <p:sp>
        <p:nvSpPr>
          <p:cNvPr id="3" name="Content Placeholder 2"/>
          <p:cNvSpPr>
            <a:spLocks noGrp="1"/>
          </p:cNvSpPr>
          <p:nvPr>
            <p:ph idx="1"/>
          </p:nvPr>
        </p:nvSpPr>
        <p:spPr/>
        <p:txBody>
          <a:bodyPr/>
          <a:lstStyle/>
          <a:p>
            <a:pPr>
              <a:defRPr sz="1800"/>
            </a:pPr>
            <a:r>
              <a:t>lt: Eine klar kommunizierte und zur Nutzung passende thermische Hülle ist wichtiger als eine reine Flächenoptimierung.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machen den Anbau überprüfbar</a:t>
            </a:r>
          </a:p>
        </p:txBody>
      </p:sp>
      <p:sp>
        <p:nvSpPr>
          <p:cNvPr id="3" name="Content Placeholder 2"/>
          <p:cNvSpPr>
            <a:spLocks noGrp="1"/>
          </p:cNvSpPr>
          <p:nvPr>
            <p:ph idx="1"/>
          </p:nvPr>
        </p:nvSpPr>
        <p:spPr/>
        <p:txBody>
          <a:bodyPr/>
          <a:lstStyle/>
          <a:p>
            <a:pPr>
              <a:defRPr sz="1800"/>
            </a:pPr>
            <a:r>
              <a:t>Die Dokumentation entscheidet darüber, ob der Zustand des Wintergartens bei späterer Bewertung nachvollzogen werden kann. Dazu gehören Aufmaß, Entwurf und Bauvorlagen sowie erforderliche Nachweise, etwa nach DIN 18008 bei einer Verglasung. Auch der Genehmigungs- oder Verfahrensstand nach Hamburger Bauordnung, Abnahmeunterlagen sowie Pflege- und Wartungsnachweise sind relevant. Fehlende oder unvollständige Unterlagen führen in der Bewertungspraxis tendenziell zu Abschlägen, selbst wenn die Ausführung gut ist. Eigentümer sollten deshalb nicht nur das Endprodukt fotografieren, sondern den gesamten Entstehungs- und Nutzungsprozess abbilden. Beson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machen den Anbau überprüfbar</a:t>
            </a:r>
          </a:p>
        </p:txBody>
      </p:sp>
      <p:sp>
        <p:nvSpPr>
          <p:cNvPr id="3" name="Content Placeholder 2"/>
          <p:cNvSpPr>
            <a:spLocks noGrp="1"/>
          </p:cNvSpPr>
          <p:nvPr>
            <p:ph idx="1"/>
          </p:nvPr>
        </p:nvSpPr>
        <p:spPr/>
        <p:txBody>
          <a:bodyPr/>
          <a:lstStyle/>
          <a:p>
            <a:pPr>
              <a:defRPr sz="1800"/>
            </a:pPr>
            <a:r>
              <a:t>ders hilfreich ist eine schriftliche Festlegung des Nutzungsziels. So lässt sich später nachvollziehen, welche Anforderungen an den Wintergarten gestellt wurden und ob die vorhandene Lösung diese erfüllt.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Prüfpunkte für die eigene Planung</a:t>
            </a:r>
          </a:p>
        </p:txBody>
      </p:sp>
      <p:sp>
        <p:nvSpPr>
          <p:cNvPr id="3" name="Content Placeholder 2"/>
          <p:cNvSpPr>
            <a:spLocks noGrp="1"/>
          </p:cNvSpPr>
          <p:nvPr>
            <p:ph idx="1"/>
          </p:nvPr>
        </p:nvSpPr>
        <p:spPr/>
        <p:txBody>
          <a:bodyPr/>
          <a:lstStyle/>
          <a:p>
            <a:pPr>
              <a:defRPr sz="1800"/>
            </a:pPr>
            <a:r>
              <a:t>Eine praktische Checkliste fasst die wichtigsten Schritte zusammen: Nutzungsziel schriftlich festhalten, Bauqualität mit Profil-, Glas-, Tragwerk-, Fundament- und Anschlussangaben belegen, energetische Werte sammeln, das Genehmigungs- oder Verfahren nach HBauO klären und Abnahme- sowie Wartungsnachweise archivieren. Bei einer geplanten Beleihung oder einem späteren Verkauf erleichtern diese Unterlagen die Einordnung des gesamten Objekts. Wichtig bleibt, zwischen tatsächlichem Zustand und Angaben auf dem Papier zu unterscheiden. Nicht jede Aussage muss für sich genommen beeindruckend wirken; entscheidend ist, dass sie belegt und mit dem gebaut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Prüfpunkte für die eigene Planung</a:t>
            </a:r>
          </a:p>
        </p:txBody>
      </p:sp>
      <p:sp>
        <p:nvSpPr>
          <p:cNvPr id="3" name="Content Placeholder 2"/>
          <p:cNvSpPr>
            <a:spLocks noGrp="1"/>
          </p:cNvSpPr>
          <p:nvPr>
            <p:ph idx="1"/>
          </p:nvPr>
        </p:nvSpPr>
        <p:spPr/>
        <p:txBody>
          <a:bodyPr/>
          <a:lstStyle/>
          <a:p>
            <a:pPr>
              <a:defRPr sz="1800"/>
            </a:pPr>
            <a:r>
              <a:t>en Wintergarten vereinbar ist. Passender Beitrag: weitere Hinweise zur Dokumentation und zu den Kostenblöcken eines Wintergartenprojekts.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Wann ein Wintergarten die Immobilie in Hamburg aufwertet: Was Sachverständige konkret prüfen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