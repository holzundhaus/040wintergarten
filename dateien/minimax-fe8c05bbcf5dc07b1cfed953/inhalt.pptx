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wintergarten.blogspot.com/2026/10/wintergarten-am-denkmal-in-hamburg-was.html" TargetMode="External"/><Relationship Id="rId3" Type="http://schemas.openxmlformats.org/officeDocument/2006/relationships/hyperlink" Target="https://holzundhaus.github.io/040wintergarten/dateien/minimax-fe8c05bbcf5dc07b1cfed95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am Denkmal in Hamburg: Was zur HBauO noch hinzukommt · Erklärende Präsentation</a:t>
            </a:r>
          </a:p>
        </p:txBody>
      </p:sp>
      <p:sp>
        <p:nvSpPr>
          <p:cNvPr id="3" name="Content Placeholder 2"/>
          <p:cNvSpPr>
            <a:spLocks noGrp="1"/>
          </p:cNvSpPr>
          <p:nvPr>
            <p:ph idx="1"/>
          </p:nvPr>
        </p:nvSpPr>
        <p:spPr/>
        <p:txBody>
          <a:bodyPr/>
          <a:lstStyle/>
          <a:p>
            <a:r>
              <a:t>Überblick: Die Satelliten-Quelle hilft, einen Wintergarten zunächst räumlich einzuordnen: Wo liegt das Gebäude, wie ist die Umgebung strukturiert und wo könnte eine Terrassenüberdachung oder ein Wintergarten an das Haus anschließen? Für ein Vorhaben in Hamburg ist diese Übersicht ein sinnvoller Einstieg, ersetzt jedoch keine maßstäblichen Baupläne. Besonders bei denkmalgeschützten Gebäuden müssen zusätzlich zur Hamburgischen Bauordnung (HBauO) die Anforderungen des Denkmalschutzes berücksichtigt werden. Die folgenden Hinweise verbinden die visuelle Einordnung mit der denkmalspezifischen Prüfung.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der Satelliten-Quelle den Standort vorbereiten</a:t>
            </a:r>
          </a:p>
        </p:txBody>
      </p:sp>
      <p:sp>
        <p:nvSpPr>
          <p:cNvPr id="3" name="Content Placeholder 2"/>
          <p:cNvSpPr>
            <a:spLocks noGrp="1"/>
          </p:cNvSpPr>
          <p:nvPr>
            <p:ph idx="1"/>
          </p:nvPr>
        </p:nvSpPr>
        <p:spPr/>
        <p:txBody>
          <a:bodyPr/>
          <a:lstStyle/>
          <a:p>
            <a:pPr>
              <a:defRPr sz="1800"/>
            </a:pPr>
            <a:r>
              <a:t>Ein erster Blick auf die Satelliten-Quelle kann zeigen, wie das Grundstück, das Hauptgebäude und die angrenzenden Flächen angeordnet sind. Relevant sind beispielsweise die Lage des Hauses, vorhandene überdachte Bereiche, Zufahrten, befestigte Flächen und die Nähe zu weiteren Gebäuden. So lässt sich erkennen, ob eine Ergänzung der bestehenden Terrasse sinnvoll erscheint oder ob eine andere Anordnung der Fläche geprüft werden sollte. Diese Informationen sind zunächst Orientierungshilfen. Verbindlich für die Planung bleiben die tatsächlichen Gegebenheiten vor Ort sowie die maßstäblichen Unterlagen.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früh in die Planung einbeziehen</a:t>
            </a:r>
          </a:p>
        </p:txBody>
      </p:sp>
      <p:sp>
        <p:nvSpPr>
          <p:cNvPr id="3" name="Content Placeholder 2"/>
          <p:cNvSpPr>
            <a:spLocks noGrp="1"/>
          </p:cNvSpPr>
          <p:nvPr>
            <p:ph idx="1"/>
          </p:nvPr>
        </p:nvSpPr>
        <p:spPr/>
        <p:txBody>
          <a:bodyPr/>
          <a:lstStyle/>
          <a:p>
            <a:pPr>
              <a:defRPr sz="1800"/>
            </a:pPr>
            <a:r>
              <a:t>Bei einem denkmalgeschützten Haus in Hamburg wird nicht nur die baurechtliche Seite nach HBauO geprüft. Parallel bewertet die Denkmalschicht, wie sich der geplante Wintergarten in das geschützte Erscheinungsbild einfügt. Wichtig ist daher, den Schutzstatus früh zu klären und festzustellen, ob das Gebäude als Einzeldenkmal, als Teil eines Ensembles oder in einem Bereich mit weiteren Erhaltungszielen liegt. Eine frühzeitige Abstimmung mit dem Denkmalschutzamt und der zuständigen Bauprüfung hilft, den voraussichtlichen Unterlagenumfang realistisch einzuschätzen und doppelte Planungsrunden zu vermeiden.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Varianten mit Ansicht, Material und Proportion prüfen</a:t>
            </a:r>
          </a:p>
        </p:txBody>
      </p:sp>
      <p:sp>
        <p:nvSpPr>
          <p:cNvPr id="3" name="Content Placeholder 2"/>
          <p:cNvSpPr>
            <a:spLocks noGrp="1"/>
          </p:cNvSpPr>
          <p:nvPr>
            <p:ph idx="1"/>
          </p:nvPr>
        </p:nvSpPr>
        <p:spPr/>
        <p:txBody>
          <a:bodyPr/>
          <a:lstStyle/>
          <a:p>
            <a:pPr>
              <a:defRPr sz="1800"/>
            </a:pPr>
            <a:r>
              <a:t>Die räumliche Ausgangslage aus der Satelliten-Quelle kann anschließend mit mehreren Entwurfsvarianten verbunden werden. Sinnvoll ist ein Vergleich zwischen einer zurückgesetzten und einer flächenbündigen Anordnung. Bei der denkmalrechtlichen Bewertung spielen die Gliederung der Fassade, die Sichtbarkeit von Sockel, Fenstern und Gesimsen sowie die Materialität eine zentrale Rolle. Auch die Dachform muss zum Bestand passen. Dafür brauchen Planerinnen und Planer aussagekräftige Ansichten, Schnitte und Materialinformationen. Die bloße Lage auf dem Grundstück beantwortet diese gestalterischen Fragen nicht.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beide Prüfverfahren zusammenstellen</a:t>
            </a:r>
          </a:p>
        </p:txBody>
      </p:sp>
      <p:sp>
        <p:nvSpPr>
          <p:cNvPr id="3" name="Content Placeholder 2"/>
          <p:cNvSpPr>
            <a:spLocks noGrp="1"/>
          </p:cNvSpPr>
          <p:nvPr>
            <p:ph idx="1"/>
          </p:nvPr>
        </p:nvSpPr>
        <p:spPr/>
        <p:txBody>
          <a:bodyPr/>
          <a:lstStyle/>
          <a:p>
            <a:pPr>
              <a:defRPr sz="1800"/>
            </a:pPr>
            <a:r>
              <a:t>Für die parallele Prüfung durch Bauprüfung und Denkmalschutzamt sollten die Unterlagen denselben Planungsstand abbilden. Dazu gehören Lageplan, Ansichten und Schnitte, eine Beschreibung des Baudenkmals, eine Fotodokumentation der betroffenen Fassaden sowie Angaben zu Material, Farbe und Anschlüssen. Profilquerschnitte und Materialmuster können erforderlich sein, wenn die Behörde die Ausführung genauer beurteilen muss. Wichtig ist außerdem, welche bestehenden Elemente verändert, überbaut oder entfernt werden. Der Ratgeber zur Baugenehmigung in Hamburg bietet eine Orientierung zum Ablauf der HBauO-Seite; die denkmalrechtliche Prüfung bleibt ein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beide Prüfverfahren zusammenstellen</a:t>
            </a:r>
          </a:p>
        </p:txBody>
      </p:sp>
      <p:sp>
        <p:nvSpPr>
          <p:cNvPr id="3" name="Content Placeholder 2"/>
          <p:cNvSpPr>
            <a:spLocks noGrp="1"/>
          </p:cNvSpPr>
          <p:nvPr>
            <p:ph idx="1"/>
          </p:nvPr>
        </p:nvSpPr>
        <p:spPr/>
        <p:txBody>
          <a:bodyPr/>
          <a:lstStyle/>
          <a:p>
            <a:pPr>
              <a:defRPr sz="1800"/>
            </a:pPr>
            <a:r>
              <a:t> zusätzlicher Schritt.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Übersicht zur belastbaren Entscheidung</a:t>
            </a:r>
          </a:p>
        </p:txBody>
      </p:sp>
      <p:sp>
        <p:nvSpPr>
          <p:cNvPr id="3" name="Content Placeholder 2"/>
          <p:cNvSpPr>
            <a:spLocks noGrp="1"/>
          </p:cNvSpPr>
          <p:nvPr>
            <p:ph idx="1"/>
          </p:nvPr>
        </p:nvSpPr>
        <p:spPr/>
        <p:txBody>
          <a:bodyPr/>
          <a:lstStyle/>
          <a:p>
            <a:pPr>
              <a:defRPr sz="1800"/>
            </a:pPr>
            <a:r>
              <a:t>Die Satelliten-Quelle ist somit besonders als Startpunkt für die Standort- und Flächenprüfung nützlich. Sie liefert einen visuellen Eindruck, der bei der Planung eines Wintergartens, einer Terrassenüberdachung oder eines Carports Fragen zu Anschluss, Orientierung und Proportion auslöst. Verbindlich werden solche Hinweise erst durch eine Abstimmung mit den zuständigen Stellen und durch konkrete Bauvorlagen. Wird aus einer bestehenden offenen Überdachung später ein geschlossener Wintergarten, verändert sich sowohl die baurechtliche Einordnung als auch die denkmalrechtliche Bewertung. Deshalb sollte die jeweilige Lösung am konkreten Haus geprüft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Übersicht zur belastbaren Entscheidung</a:t>
            </a:r>
          </a:p>
        </p:txBody>
      </p:sp>
      <p:sp>
        <p:nvSpPr>
          <p:cNvPr id="3" name="Content Placeholder 2"/>
          <p:cNvSpPr>
            <a:spLocks noGrp="1"/>
          </p:cNvSpPr>
          <p:nvPr>
            <p:ph idx="1"/>
          </p:nvPr>
        </p:nvSpPr>
        <p:spPr/>
        <p:txBody>
          <a:bodyPr/>
          <a:lstStyle/>
          <a:p>
            <a:pPr>
              <a:defRPr sz="1800"/>
            </a:pPr>
            <a:r>
              <a:t> werden, statt pauschale Aussagen zugrunde zu legen.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am Denkmal in Hamburg: Was zur HBauO noch hinzukommt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