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wintergarten.blogspot.com/2026/10/pflanzen-im-wintergarten-wie-die.html" TargetMode="External"/><Relationship Id="rId3" Type="http://schemas.openxmlformats.org/officeDocument/2006/relationships/hyperlink" Target="https://holzundhaus.github.io/040wintergarten/dateien/minimax-02d72ef07a71019fb0d398b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Pflanzen im Wintergarten: Wie die Botanik das Klimakonzept in Hamburg mitbestimmt · Erklärende Präsentation</a:t>
            </a:r>
          </a:p>
        </p:txBody>
      </p:sp>
      <p:sp>
        <p:nvSpPr>
          <p:cNvPr id="3" name="Content Placeholder 2"/>
          <p:cNvSpPr>
            <a:spLocks noGrp="1"/>
          </p:cNvSpPr>
          <p:nvPr>
            <p:ph idx="1"/>
          </p:nvPr>
        </p:nvSpPr>
        <p:spPr/>
        <p:txBody>
          <a:bodyPr/>
          <a:lstStyle/>
          <a:p>
            <a:r>
              <a:t>Überblick: Wer seinen Wintergarten in Hamburg mit Pflanzen gestalten möchte, steht vor der Frage, welche Arten dauerhaft zusammenpassen und wie sich Pflegeaufwand sowie Überwinterung sinnvoll planen lassen. Die Wahl der Pflanzen beeinflusst nicht nur die Optik, sondern auch Feuchte, Temperaturanspruch und Pflegeintensität. Dieser Ratgeber zeigt, wie sich ein stimmiges Pflanzkonzept aufbauen lässt, das Botanik und Raumnutzung vereint.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Winterhärte und Klimazonen für den Hamburger Raum</a:t>
            </a:r>
          </a:p>
        </p:txBody>
      </p:sp>
      <p:sp>
        <p:nvSpPr>
          <p:cNvPr id="3" name="Content Placeholder 2"/>
          <p:cNvSpPr>
            <a:spLocks noGrp="1"/>
          </p:cNvSpPr>
          <p:nvPr>
            <p:ph idx="1"/>
          </p:nvPr>
        </p:nvSpPr>
        <p:spPr/>
        <p:txBody>
          <a:bodyPr/>
          <a:lstStyle/>
          <a:p>
            <a:pPr>
              <a:defRPr sz="1800"/>
            </a:pPr>
            <a:r>
              <a:t>Hamburg liegt in der winterharten Zone 7b bis 8a. Das bedeutet milde Winter mit gelegentlichen Frösten, aber auch feuchte Übergangsphasen im Herbst und zeitiges Erwachen der Vegetation im Frühjahr. Für einen Glasanbau ist dieser Umstand besonders relevant: Viele Kübelpflanzen, die im Sommer auf der Terrasse stehen, vertragen die Bedingungen in einem unbeheizten Wintergarten nicht dauerhaft. Zitruspflanzen etwa halten kurzzeitig leichten Frost aus, leiden aber bei wiederholten Minusgraden. Eine ehrliche Einschätzung der jeweiligen Frosttoleranz hilft dabei, die Pflanzen den richtigen Bereichen des Glasanbaus zuzuordnen und Heizbedarf realistis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Winterhärte und Klimazonen für den Hamburger Raum</a:t>
            </a:r>
          </a:p>
        </p:txBody>
      </p:sp>
      <p:sp>
        <p:nvSpPr>
          <p:cNvPr id="3" name="Content Placeholder 2"/>
          <p:cNvSpPr>
            <a:spLocks noGrp="1"/>
          </p:cNvSpPr>
          <p:nvPr>
            <p:ph idx="1"/>
          </p:nvPr>
        </p:nvSpPr>
        <p:spPr/>
        <p:txBody>
          <a:bodyPr/>
          <a:lstStyle/>
          <a:p>
            <a:pPr>
              <a:defRPr sz="1800"/>
            </a:pPr>
            <a:r>
              <a:t>ch zu kalkulieren.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Pflanzkübel und Substrat als Teil des Klimakonzepts</a:t>
            </a:r>
          </a:p>
        </p:txBody>
      </p:sp>
      <p:sp>
        <p:nvSpPr>
          <p:cNvPr id="3" name="Content Placeholder 2"/>
          <p:cNvSpPr>
            <a:spLocks noGrp="1"/>
          </p:cNvSpPr>
          <p:nvPr>
            <p:ph idx="1"/>
          </p:nvPr>
        </p:nvSpPr>
        <p:spPr/>
        <p:txBody>
          <a:bodyPr/>
          <a:lstStyle/>
          <a:p>
            <a:pPr>
              <a:defRPr sz="1800"/>
            </a:pPr>
            <a:r>
              <a:t>Der Kübel beeinflusst die Temperaturführung der Wurzelzone unmittelbar. Dunkle Gefäße heizen sich an sonnigen Wintertagen stark auf und kühlen in der Nacht ebenso schnell ab, was zu Wurzelschäden führen kann. Isolierte oder helle Kübel bieten hier einen gewissen Ausgleich. Das Substrat sollte durchlässig sein, um Staunässe zu vermeiden, die besonders im Winter schnell zu Wurzelfäule führt. Eine Drainageschicht im Kübel und Untersetzer mit Ablaufmöglichkeit gehören zur Grundausstattung, wenn Pflanzen dauerhaft im Glasanbau stehen sollen.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Überwinterung: Strategien für verschiedene Pflanzengruppen</a:t>
            </a:r>
          </a:p>
        </p:txBody>
      </p:sp>
      <p:sp>
        <p:nvSpPr>
          <p:cNvPr id="3" name="Content Placeholder 2"/>
          <p:cNvSpPr>
            <a:spLocks noGrp="1"/>
          </p:cNvSpPr>
          <p:nvPr>
            <p:ph idx="1"/>
          </p:nvPr>
        </p:nvSpPr>
        <p:spPr/>
        <p:txBody>
          <a:bodyPr/>
          <a:lstStyle/>
          <a:p>
            <a:pPr>
              <a:defRPr sz="1800"/>
            </a:pPr>
            <a:r>
              <a:t>Mediterrane Kübelpflanzen wie Oleander, Olive und Zitrus benötigen einen hellen, kühlen Standort zwischen fünf und zwölf Grad. Ein Warmwintergarten mit dauerbeheizung ist für sie nicht zwingend nötig, kann aber die Blühfreudigkeit im Folgejahr fördern. Tropische Pflanzen wie Banane oder Philodendron vertragen keine Temperaturen unter zwölf Grad und brauchen warme Bedingungen ganzjährig. Wer beide Gruppen im selben Glasanbau halten möchte, muss Zonen mit unterschiedlicher Heizleistung schaffen. Einfacher ist es, die Pflanzen den vorhandenen Winterbedingungen entsprechend auszuwählen, statt nachträglich Wärmezonen einzurichten.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Pflegekalender für den saisonalen Pflanzenbetrieb</a:t>
            </a:r>
          </a:p>
        </p:txBody>
      </p:sp>
      <p:sp>
        <p:nvSpPr>
          <p:cNvPr id="3" name="Content Placeholder 2"/>
          <p:cNvSpPr>
            <a:spLocks noGrp="1"/>
          </p:cNvSpPr>
          <p:nvPr>
            <p:ph idx="1"/>
          </p:nvPr>
        </p:nvSpPr>
        <p:spPr/>
        <p:txBody>
          <a:bodyPr/>
          <a:lstStyle/>
          <a:p>
            <a:pPr>
              <a:defRPr sz="1800"/>
            </a:pPr>
            <a:r>
              <a:t>Im Frühjahr werden Kübel umgetopft, sobald die Pflanzen neuen Austrieb zeigen. Der Sommer verlangt verstärkte Bewässerung und aufmerksame Kontrolle auf Schädlinge wie Spinnmilben oder Blattläuse, die sich in geschlossenen Glasanbauten schnell ausbreiten. Der Herbst ist der Zeitpunkt, um empfindliche Arten ins Haus zu holen und die Überwinterungsplätze vorzubereiten. Im Winter reicht bei kühlen Exemplaren eine reduzierte Wassergabe, um das Substrat nicht vollständig austrocknen zu lassen. Ein einfacher Pflegeplan, der diese Stationen festhält, hilft dabei, den Überblick zu behalten und keine Maßnahme zu vergessen.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Schädlinge und biologische Gegenmaßnahmen im Glasanbau</a:t>
            </a:r>
          </a:p>
        </p:txBody>
      </p:sp>
      <p:sp>
        <p:nvSpPr>
          <p:cNvPr id="3" name="Content Placeholder 2"/>
          <p:cNvSpPr>
            <a:spLocks noGrp="1"/>
          </p:cNvSpPr>
          <p:nvPr>
            <p:ph idx="1"/>
          </p:nvPr>
        </p:nvSpPr>
        <p:spPr/>
        <p:txBody>
          <a:bodyPr/>
          <a:lstStyle/>
          <a:p>
            <a:pPr>
              <a:defRPr sz="1800"/>
            </a:pPr>
            <a:r>
              <a:t>Geschlossene Glasräume begünstigen bestimmte Schädlinge, weil natürliche Feinde fehlen und die Bedingungen für Spinnmilben, Weiße Fliegen und Schildläuse ideal sind. Regelmäßige Kontrolle der Blattunterseiten gehört daher zur routine. Nützlinge wie Florfliegenlarven oder Raubmilben können eingesetzt werden und vermehren sich bei passenden Bedingungen eigenständig. Chemische Mittel sind im bewohnten Glasanbau wenig empfehlenswert, da die Ausbringung in geschlossenen Räumen die Konzentration unerwünschter Stoffe erhöht. Ein frühzeitiges Erkennen und gezieltes Eingreifen bei den ersten Befallszeichen reicht meist aus, um größere Ausbreitung zu 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Schädlinge und biologische Gegenmaßnahmen im Glasanbau</a:t>
            </a:r>
          </a:p>
        </p:txBody>
      </p:sp>
      <p:sp>
        <p:nvSpPr>
          <p:cNvPr id="3" name="Content Placeholder 2"/>
          <p:cNvSpPr>
            <a:spLocks noGrp="1"/>
          </p:cNvSpPr>
          <p:nvPr>
            <p:ph idx="1"/>
          </p:nvPr>
        </p:nvSpPr>
        <p:spPr/>
        <p:txBody>
          <a:bodyPr/>
          <a:lstStyle/>
          <a:p>
            <a:pPr>
              <a:defRPr sz="1800"/>
            </a:pPr>
            <a:r>
              <a:t>erhindern.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Pflanzen im Wintergarten: Wie die Botanik das Klimakonzept in Hamburg mitbestimmt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