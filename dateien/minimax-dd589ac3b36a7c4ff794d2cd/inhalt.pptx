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40wintergarten/wintergarten-barrierefrei-planen-hamburg/" TargetMode="External"/><Relationship Id="rId3" Type="http://schemas.openxmlformats.org/officeDocument/2006/relationships/hyperlink" Target="https://holzundhaus.github.io/040wintergarten/dateien/minimax-dd589ac3b36a7c4ff794d2c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barrierefrei planen: Bewegungsflächen, Übergänge und Nachrüstbarkeit in Hamburg · Erklärende Präsentation</a:t>
            </a:r>
          </a:p>
        </p:txBody>
      </p:sp>
      <p:sp>
        <p:nvSpPr>
          <p:cNvPr id="3" name="Content Placeholder 2"/>
          <p:cNvSpPr>
            <a:spLocks noGrp="1"/>
          </p:cNvSpPr>
          <p:nvPr>
            <p:ph idx="1"/>
          </p:nvPr>
        </p:nvSpPr>
        <p:spPr/>
        <p:txBody>
          <a:bodyPr/>
          <a:lstStyle/>
          <a:p>
            <a:r>
              <a:t>Überblick: Barrierefreiheit sollte im Wintergarten nicht erst kurz vor der Montage zum Thema werden. Die entscheidende Frage lautet: Welche Maßnahmen sind jetzt technisch sinnvoll, damit der Anbau heute gut nutzbar ist und spätere Ergänzungen ohne größeren Umbau möglich bleiben? Ein praxisnaher Einstieg bietet die Grundlagen der barrierefreien Wintergartenplanung in Hamburg. Im Mittelpunkt stehen die Bestandsaufnahme, Bewegungsflächen, Übergänge am Haus, rutschhemmende Böden und vorbereitete Anschlüsse für Hilfssysteme.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einer Bestandsaufnahme die Planungsgrundlage schaffen</a:t>
            </a:r>
          </a:p>
        </p:txBody>
      </p:sp>
      <p:sp>
        <p:nvSpPr>
          <p:cNvPr id="3" name="Content Placeholder 2"/>
          <p:cNvSpPr>
            <a:spLocks noGrp="1"/>
          </p:cNvSpPr>
          <p:nvPr>
            <p:ph idx="1"/>
          </p:nvPr>
        </p:nvSpPr>
        <p:spPr/>
        <p:txBody>
          <a:bodyPr/>
          <a:lstStyle/>
          <a:p>
            <a:pPr>
              <a:defRPr sz="1800"/>
            </a:pPr>
            <a:r>
              <a:t>Vor dem Angebot sollten Aufbauhöhen, Bodenaufbau, vorhandene Wandöffnungen, Sockel und Anschlussbedingungen am Haus dokumentiert werden. Nur so lässt sich erkennen, welche Lösungen tatsächlich möglich sind und wo Vorarbeiten anderer Gewerke erforderlich werden. Besonders wichtig ist die Frage, wie unterschiedlich die Bodenniveaus von Haus und Wintergarten sind. Diese Differenz beeinflusst Übergangshöhe, Entwässerung, Dämmung und die Gestaltung der Bewegungsfuge. Maße und Anschlussdetails sollten schriftlich festgehalten werden, damit später nachvollziehbar bleibt, was vereinbart wurde.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Bewegungsflächen und Türen gemeinsam planen</a:t>
            </a:r>
          </a:p>
        </p:txBody>
      </p:sp>
      <p:sp>
        <p:nvSpPr>
          <p:cNvPr id="3" name="Content Placeholder 2"/>
          <p:cNvSpPr>
            <a:spLocks noGrp="1"/>
          </p:cNvSpPr>
          <p:nvPr>
            <p:ph idx="1"/>
          </p:nvPr>
        </p:nvSpPr>
        <p:spPr/>
        <p:txBody>
          <a:bodyPr/>
          <a:lstStyle/>
          <a:p>
            <a:pPr>
              <a:defRPr sz="1800"/>
            </a:pPr>
            <a:r>
              <a:t>Ein ausreichend großer Wintergarten kann trotz enger Durchgänge problematisch werden, wenn Türen in freie Flächen schlagen oder Heizkörper den notwendigen Raum einschränken. Wendeflächen, Fahrwege vor Türen und Abstände zwischen Sitzplätzen und Durchgängen sollten deshalb in mehreren Grundrissvarianten geprüft werden. Bei der Tür zählt nicht nur die Öffnungsbreite: Rahmenbreite, Öffnungswinkel und die angrenzende Bewegungsfläche bestimmen gemeinsam, ob die Tür nutzbar bleibt. Schiebe- und Drehflügeltüren benötigen unterschiedliche Platzreserven. Ein früh festgelegtes Layout verhindert, dass später Möblierung und Zugang gegeneinander arbeiten.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Schwellen und Bodenbeläge als sichere Einheit betrachten</a:t>
            </a:r>
          </a:p>
        </p:txBody>
      </p:sp>
      <p:sp>
        <p:nvSpPr>
          <p:cNvPr id="3" name="Content Placeholder 2"/>
          <p:cNvSpPr>
            <a:spLocks noGrp="1"/>
          </p:cNvSpPr>
          <p:nvPr>
            <p:ph idx="1"/>
          </p:nvPr>
        </p:nvSpPr>
        <p:spPr/>
        <p:txBody>
          <a:bodyPr/>
          <a:lstStyle/>
          <a:p>
            <a:pPr>
              <a:defRPr sz="1800"/>
            </a:pPr>
            <a:r>
              <a:t>Der Übergang zwischen Wohnhaus und Wintergarten muss mehrere Anforderungen zugleich erfüllen: möglichst geringer Höhenunterschied, zuverlässige Entwässerung, Schutz vor Feuchtigkeit und eine unkomplizierte Bewegung für alle Nutzer. Ob eine vollständig niveaugleiche Lösung möglich ist, hängt vom Bestand und vom gewählten Profilanschluss ab. Diese Frage gehört in die Planung und nicht erst auf die Baustelle. Ergänzend sollte die Rutschhemmung des Bodens zur Nutzung passen. Glasflächen, Kondensat, Regen und Schmutz können den Boden rutschig machen. Flache, klar definierte Übergänge reduzieren zusätzliche Stolperstellen bei einem Wechsel der Mate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Schwellen und Bodenbeläge als sichere Einheit betrachten</a:t>
            </a:r>
          </a:p>
        </p:txBody>
      </p:sp>
      <p:sp>
        <p:nvSpPr>
          <p:cNvPr id="3" name="Content Placeholder 2"/>
          <p:cNvSpPr>
            <a:spLocks noGrp="1"/>
          </p:cNvSpPr>
          <p:nvPr>
            <p:ph idx="1"/>
          </p:nvPr>
        </p:nvSpPr>
        <p:spPr/>
        <p:txBody>
          <a:bodyPr/>
          <a:lstStyle/>
          <a:p>
            <a:pPr>
              <a:defRPr sz="1800"/>
            </a:pPr>
            <a:r>
              <a:t>rialien.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Nachrüstbare Systeme früh vorbereiten</a:t>
            </a:r>
          </a:p>
        </p:txBody>
      </p:sp>
      <p:sp>
        <p:nvSpPr>
          <p:cNvPr id="3" name="Content Placeholder 2"/>
          <p:cNvSpPr>
            <a:spLocks noGrp="1"/>
          </p:cNvSpPr>
          <p:nvPr>
            <p:ph idx="1"/>
          </p:nvPr>
        </p:nvSpPr>
        <p:spPr/>
        <p:txBody>
          <a:bodyPr/>
          <a:lstStyle/>
          <a:p>
            <a:pPr>
              <a:defRPr sz="1800"/>
            </a:pPr>
            <a:r>
              <a:t>Ein Wintergarten wirkt langfristig barrierefreier, wenn mögliche Hilfssysteme bereits konstruktiv berücksichtigt sind. Dazu zählen tragfähige Anschlusspunkte für Griffe, vorbereitete Stromkreise für automatische Türantriebe sowie geeignete Unterkonstruktionen und Leerrohre. Auch Schalterhöhen, Steckdosen und Platzreserven sollten so geplant werden, dass sie im Sitzen erreichbar bleiben und spätere Geräte ohne Umbau installiert werden können. Das Angebot eines passenden Wintergartensystems kann dann mit diesen Anforderungen abgeglichen werden. Vorbereitungen sind besonders dann hilfreich, wenn Haltesysteme, zusätzliche Beleuchtung oder sensori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Nachrüstbare Systeme früh vorbereiten</a:t>
            </a:r>
          </a:p>
        </p:txBody>
      </p:sp>
      <p:sp>
        <p:nvSpPr>
          <p:cNvPr id="3" name="Content Placeholder 2"/>
          <p:cNvSpPr>
            <a:spLocks noGrp="1"/>
          </p:cNvSpPr>
          <p:nvPr>
            <p:ph idx="1"/>
          </p:nvPr>
        </p:nvSpPr>
        <p:spPr/>
        <p:txBody>
          <a:bodyPr/>
          <a:lstStyle/>
          <a:p>
            <a:pPr>
              <a:defRPr sz="1800"/>
            </a:pPr>
            <a:r>
              <a:t>sche Steuerungen erst zu einem späteren Zeitpunkt ergänzt werden sollen.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Verantwortlichkeiten vor der Montage verbindlich klären</a:t>
            </a:r>
          </a:p>
        </p:txBody>
      </p:sp>
      <p:sp>
        <p:nvSpPr>
          <p:cNvPr id="3" name="Content Placeholder 2"/>
          <p:cNvSpPr>
            <a:spLocks noGrp="1"/>
          </p:cNvSpPr>
          <p:nvPr>
            <p:ph idx="1"/>
          </p:nvPr>
        </p:nvSpPr>
        <p:spPr/>
        <p:txBody>
          <a:bodyPr/>
          <a:lstStyle/>
          <a:p>
            <a:pPr>
              <a:defRPr sz="1800"/>
            </a:pPr>
            <a:r>
              <a:t>Barrierefreie Anpassungen können Eingriffe in Fassade, Bodenaufbau, Leitungsführung oder Wandöffnungen erfordern. Deshalb sollte vor der Montage feststehen, wer die vorhandenen Vorarbeiten prüft, welche Maße dokumentiert werden und welche Details bei Abweichungen zu klären sind. Auch Wartungsluken, Reinigungsöffnungen und Revisionsschächte müssen ohne Hindernis erreichbar bleiben. Eine kurze Checkliste mit Prüfterminen und festen Ansprechpartnern schafft Klarheit und verhindert, dass einzelne Details zwischen den Gewerken verloren gehen.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barrierefrei planen: Bewegungsflächen, Übergänge und Nachrüstbarkeit in Hamburg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