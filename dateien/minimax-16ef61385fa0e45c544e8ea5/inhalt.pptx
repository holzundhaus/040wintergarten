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40wintergarten.wordpress.com/2026/10/25/wintergarten-schimmel-luftfeuchtigkeit-vermeiden/" TargetMode="External"/><Relationship Id="rId3" Type="http://schemas.openxmlformats.org/officeDocument/2006/relationships/hyperlink" Target="https://holzundhaus.github.io/040wintergarten/dateien/minimax-16ef61385fa0e45c544e8ea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Schimmel und überhöhte Luftfeuchtigkeit erkennen und vermeiden · Erklärende Präsentation</a:t>
            </a:r>
          </a:p>
        </p:txBody>
      </p:sp>
      <p:sp>
        <p:nvSpPr>
          <p:cNvPr id="3" name="Content Placeholder 2"/>
          <p:cNvSpPr>
            <a:spLocks noGrp="1"/>
          </p:cNvSpPr>
          <p:nvPr>
            <p:ph idx="1"/>
          </p:nvPr>
        </p:nvSpPr>
        <p:spPr/>
        <p:txBody>
          <a:bodyPr/>
          <a:lstStyle/>
          <a:p>
            <a:r>
              <a:t>Überblick: Feuchte im Wintergarten entsteht selten aus einem einzigen Problem. Pflanzen, Wäsche, Raumluft und bauliche Anschlüsse können gemeinsam Wasser in die Konstruktion und an die Luft bringen. Entscheidend ist deshalb eine systematische Bestandsaufnahme: Nutzung, Lüftung und Bausubstanz müssen getrennt betrachtet und anschließend zusammengeführt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Zuerst die Feuchtequelle bestimmen</a:t>
            </a:r>
          </a:p>
        </p:txBody>
      </p:sp>
      <p:sp>
        <p:nvSpPr>
          <p:cNvPr id="3" name="Content Placeholder 2"/>
          <p:cNvSpPr>
            <a:spLocks noGrp="1"/>
          </p:cNvSpPr>
          <p:nvPr>
            <p:ph idx="1"/>
          </p:nvPr>
        </p:nvSpPr>
        <p:spPr/>
        <p:txBody>
          <a:bodyPr/>
          <a:lstStyle/>
          <a:p>
            <a:pPr>
              <a:defRPr sz="1800"/>
            </a:pPr>
            <a:r>
              <a:t>Beginnen Sie mit der Frage, ob die Feuchte durch die Nutzung oder durch den Aufbau entsteht. Pflanzen und nasse Erde geben kontinuierlich Wasserdampf ab. Wäschetrocknen kann erhebliche Feuchtemengen freisetzen. Beim offenen Anschluss an den Wohnraum können zudem Feuchtespitzen aus Küche, Bad oder beim Atmen auftreten. Eine weitere, oft unterschätzte Quelle ist die Konstruktion selbst: undichte Bodenanschlüsse, fehlende Sperrschichten oder unzureichend entwässerte Fundamentbereiche können Wasser in den Wintergarten eintragen lassen. Allein ein geöffnetes Fenster beseitigt diese Ursache nicht. Es führt vor allem die Raumluft ab, während Feuchte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Zuerst die Feuchtequelle bestimmen</a:t>
            </a:r>
          </a:p>
        </p:txBody>
      </p:sp>
      <p:sp>
        <p:nvSpPr>
          <p:cNvPr id="3" name="Content Placeholder 2"/>
          <p:cNvSpPr>
            <a:spLocks noGrp="1"/>
          </p:cNvSpPr>
          <p:nvPr>
            <p:ph idx="1"/>
          </p:nvPr>
        </p:nvSpPr>
        <p:spPr/>
        <p:txBody>
          <a:bodyPr/>
          <a:lstStyle/>
          <a:p>
            <a:pPr>
              <a:defRPr sz="1800"/>
            </a:pPr>
            <a:r>
              <a:t> im Bauteilaufbau weiter bestehen kann.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Lüftungsprotokoll schafft Klarheit</a:t>
            </a:r>
          </a:p>
        </p:txBody>
      </p:sp>
      <p:sp>
        <p:nvSpPr>
          <p:cNvPr id="3" name="Content Placeholder 2"/>
          <p:cNvSpPr>
            <a:spLocks noGrp="1"/>
          </p:cNvSpPr>
          <p:nvPr>
            <p:ph idx="1"/>
          </p:nvPr>
        </p:nvSpPr>
        <p:spPr/>
        <p:txBody>
          <a:bodyPr/>
          <a:lstStyle/>
          <a:p>
            <a:pPr>
              <a:defRPr sz="1800"/>
            </a:pPr>
            <a:r>
              <a:t>Ein Hygrometer mit Minimum- und Maximum-Anzeige hilft, Muster statt einzelner Messwerte zu erkennen. Notieren Sie Datum, Uhrzeit, Außen- und Innentemperatur sowie den Zustand beim Lüften. Vermerken Sie außerdem, ob gegossen wurde, Wäsche trocknete oder Beschlag sich an Glasflächen, Profilen, Übergängen zur Boden-Schwelle oder am Hauswandanschluss bildet. Das Protokoll sollte zwei bis drei Wochen zu wechselnden Tageszeiten fortgeführt werden. Besonders aufschlussreich ist der Morgen vor dem ersten Lüften. Bleibt die Feuchte dann konstant hoch, obwohl keine starke Nutzung stattfindet, deutet das eher auf bauliche Ursachen hin. Der ausführliche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Lüftungsprotokoll schafft Klarheit</a:t>
            </a:r>
          </a:p>
        </p:txBody>
      </p:sp>
      <p:sp>
        <p:nvSpPr>
          <p:cNvPr id="3" name="Content Placeholder 2"/>
          <p:cNvSpPr>
            <a:spLocks noGrp="1"/>
          </p:cNvSpPr>
          <p:nvPr>
            <p:ph idx="1"/>
          </p:nvPr>
        </p:nvSpPr>
        <p:spPr/>
        <p:txBody>
          <a:bodyPr/>
          <a:lstStyle/>
          <a:p>
            <a:pPr>
              <a:defRPr sz="1800"/>
            </a:pPr>
            <a:r>
              <a:t>Leitfaden zum [Lüftungsprotokoll im Wintergarten](https://040wintergarten.wordpress.com/2026/10/25/wintergarten-schimmel-luftfeuchtigkeit-vermeiden/) fasst diese Schritte noch einmal zusammen.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 an festen Stellen prüfen</a:t>
            </a:r>
          </a:p>
        </p:txBody>
      </p:sp>
      <p:sp>
        <p:nvSpPr>
          <p:cNvPr id="3" name="Content Placeholder 2"/>
          <p:cNvSpPr>
            <a:spLocks noGrp="1"/>
          </p:cNvSpPr>
          <p:nvPr>
            <p:ph idx="1"/>
          </p:nvPr>
        </p:nvSpPr>
        <p:spPr/>
        <p:txBody>
          <a:bodyPr/>
          <a:lstStyle/>
          <a:p>
            <a:pPr>
              <a:defRPr sz="1800"/>
            </a:pPr>
            <a:r>
              <a:t>Treten Schliere, Kondenswasser oder Feuchteschäden immer an denselben Punkten auf, sollte der bauliche Aufbau genauer betrachtet werden. An der Bodenschwelle ist zu klären, ob die Oberfläche des Wintergartenbodens unter dem Terrassenniveau liegt und ob ein durchgehender Feuchteschutz sowie ein definiertes Gefälle zur Entwässerung vorhanden sind. Am Hauswandanschluss darf die Fuge nicht nur sichtbar geschlossen sein; Feuchte darf nicht hinter die Verkleidung wandern. Übergänge zwischen Vertikalverglasung und Dach können als Wärmebrücken wirken, an denen warme Innenluft zuerst kondensiert. Steht das Fundament in drückendem Wasser, ist zusätzlic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 an festen Stellen prüfen</a:t>
            </a:r>
          </a:p>
        </p:txBody>
      </p:sp>
      <p:sp>
        <p:nvSpPr>
          <p:cNvPr id="3" name="Content Placeholder 2"/>
          <p:cNvSpPr>
            <a:spLocks noGrp="1"/>
          </p:cNvSpPr>
          <p:nvPr>
            <p:ph idx="1"/>
          </p:nvPr>
        </p:nvSpPr>
        <p:spPr/>
        <p:txBody>
          <a:bodyPr/>
          <a:lstStyle/>
          <a:p>
            <a:pPr>
              <a:defRPr sz="1800"/>
            </a:pPr>
            <a:r>
              <a:t>h die Entwässerung einschließlich kapillarbrechender Schicht zu prüfen. Ein einzelnes Lüftungselement erreicht diese Bereiche oft nicht.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als vollständiger Luftweg planen</a:t>
            </a:r>
          </a:p>
        </p:txBody>
      </p:sp>
      <p:sp>
        <p:nvSpPr>
          <p:cNvPr id="3" name="Content Placeholder 2"/>
          <p:cNvSpPr>
            <a:spLocks noGrp="1"/>
          </p:cNvSpPr>
          <p:nvPr>
            <p:ph idx="1"/>
          </p:nvPr>
        </p:nvSpPr>
        <p:spPr/>
        <p:txBody>
          <a:bodyPr/>
          <a:lstStyle/>
          <a:p>
            <a:pPr>
              <a:defRPr sz="1800"/>
            </a:pPr>
            <a:r>
              <a:t>Eine reine Kippstellung oben reicht bei sichtbaren Feuchteproblemen häufig nicht aus. Zielführender ist eine Querlüftung mit tiefem Zuluftpunkt und hohem Abluftpunkt. Frische Luft tritt unten ein, erwärmt sich und kann oben austreten. Gegenüberliegende Öffnungen unterstützen dabei einen gleichmäßigen Luftaustausch. Die Wirkung hängt jedoch von den äußeren Bedingungen ab: Bei hoher Außenluftfeuchte bringt Lüften weniger Entlastung als an trockeneren Tagen. Motorische Lüftungen sind deshalb nur dann ein vollständiges Konzept, wenn Zuluft und Abluft gemeinsam betrachtet werden. Wichtig ist außerdem der Bestand des Hauses, mit dem der Wintergarte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als vollständiger Luftweg planen</a:t>
            </a:r>
          </a:p>
        </p:txBody>
      </p:sp>
      <p:sp>
        <p:nvSpPr>
          <p:cNvPr id="3" name="Content Placeholder 2"/>
          <p:cNvSpPr>
            <a:spLocks noGrp="1"/>
          </p:cNvSpPr>
          <p:nvPr>
            <p:ph idx="1"/>
          </p:nvPr>
        </p:nvSpPr>
        <p:spPr/>
        <p:txBody>
          <a:bodyPr/>
          <a:lstStyle/>
          <a:p>
            <a:pPr>
              <a:defRPr sz="1800"/>
            </a:pPr>
            <a:r>
              <a:t>n verbunden ist. Feuchteprobleme in Dach, Kellerwand oder angrenzendem Boden beeinflussen die Situation des Anbaus.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Sofortmaßnahmen und weiteres Vorgehen</a:t>
            </a:r>
          </a:p>
        </p:txBody>
      </p:sp>
      <p:sp>
        <p:nvSpPr>
          <p:cNvPr id="3" name="Content Placeholder 2"/>
          <p:cNvSpPr>
            <a:spLocks noGrp="1"/>
          </p:cNvSpPr>
          <p:nvPr>
            <p:ph idx="1"/>
          </p:nvPr>
        </p:nvSpPr>
        <p:spPr/>
        <p:txBody>
          <a:bodyPr/>
          <a:lstStyle/>
          <a:p>
            <a:pPr>
              <a:defRPr sz="1800"/>
            </a:pPr>
            <a:r>
              <a:t>Bis zur fachlichen Prüfung können Sie Gießwasser reduzieren, Pflanzen auf Untersetzer mit Abstand zum Boden stellen und Wäsche im Wintergarten vermeiden. Übergänge am Boden sollten trocken gehalten und mit einem Tuch auf Kondenswasser kontrolliert werden. Bleibt die Feuchte trotz angepasster Nutzung und Lüftung an denselben Stellen bestehen, ist eine Bestandsaufnahme von Anschluss, Schwelle und Wandaufbau der nächste Schritt. Sichtbarer Schimmel sollte zügig behandelt werden. Trockene Oberflächen und gezielte Lüftung helfen, ersetzen aber nicht die Ursachenklärung. Mehr zum Thema [Schimmel und Luftfeuchtigkeit im Wintergarten](https://040wint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Sofortmaßnahmen und weiteres Vorgehen</a:t>
            </a:r>
          </a:p>
        </p:txBody>
      </p:sp>
      <p:sp>
        <p:nvSpPr>
          <p:cNvPr id="3" name="Content Placeholder 2"/>
          <p:cNvSpPr>
            <a:spLocks noGrp="1"/>
          </p:cNvSpPr>
          <p:nvPr>
            <p:ph idx="1"/>
          </p:nvPr>
        </p:nvSpPr>
        <p:spPr/>
        <p:txBody>
          <a:bodyPr/>
          <a:lstStyle/>
          <a:p>
            <a:pPr>
              <a:defRPr sz="1800"/>
            </a:pPr>
            <a:r>
              <a:t>ergarten.wordpress.com/2026/10/25/wintergarten-schimmel-luftfeuchtigkeit-vermeiden/) finden Sie im begleitenden Ratgeber.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Schimmel und überhöhte Luftfeuchtigkeit erkennen und vermeiden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