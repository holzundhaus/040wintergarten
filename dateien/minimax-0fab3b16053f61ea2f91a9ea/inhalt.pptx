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40wintergarten/wintergarten-vertrag-abnahme-dokumentation/" TargetMode="External"/><Relationship Id="rId3" Type="http://schemas.openxmlformats.org/officeDocument/2006/relationships/hyperlink" Target="https://holzundhaus.github.io/040wintergarten/dateien/minimax-0fab3b16053f61ea2f91a9e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in Hamburg: Vertrag, Abnahme und Dokumentation sauber absichern · Erklärende Präsentation</a:t>
            </a:r>
          </a:p>
        </p:txBody>
      </p:sp>
      <p:sp>
        <p:nvSpPr>
          <p:cNvPr id="3" name="Content Placeholder 2"/>
          <p:cNvSpPr>
            <a:spLocks noGrp="1"/>
          </p:cNvSpPr>
          <p:nvPr>
            <p:ph idx="1"/>
          </p:nvPr>
        </p:nvSpPr>
        <p:spPr/>
        <p:txBody>
          <a:bodyPr/>
          <a:lstStyle/>
          <a:p>
            <a:r>
              <a:t>Überblick: Bei einem Wintergarten am Bestandshaus treffen mehrere Gewerke aufeinander: Fundament, Wandanschluss, Hülle, Verglasung, Klimatisierung, Beschattung und Elektroanschluss. Wer Leistungen, Schnittstellen und offene Punkte nicht frühzeitig schriftlich festlegt, risksiert später Streitigkeiten über Zuständigkeiten, Mängel oder Verzögerungen. Dieser Leitfaden strukturiert die wichtigsten Schritte von der Vertragsprüfung über die Abnahme bis zur langfristigen Dokumentation. Er ergänzt die fachlichen Planungsthemen, indem er den rechtlichen und organisatorischen Übergang zwischen Angebot, Montage und Betrieb nachvollziehbar macht. Zwei ze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Leistungsumfang vor der Montage konkret festlegen</a:t>
            </a:r>
          </a:p>
        </p:txBody>
      </p:sp>
      <p:sp>
        <p:nvSpPr>
          <p:cNvPr id="3" name="Content Placeholder 2"/>
          <p:cNvSpPr>
            <a:spLocks noGrp="1"/>
          </p:cNvSpPr>
          <p:nvPr>
            <p:ph idx="1"/>
          </p:nvPr>
        </p:nvSpPr>
        <p:spPr/>
        <p:txBody>
          <a:bodyPr/>
          <a:lstStyle/>
          <a:p>
            <a:pPr>
              <a:defRPr sz="1800"/>
            </a:pPr>
            <a:r>
              <a:t>Ein Wintergarten am Bestand ist kein Standardprodukt. Deshalb sollte der Werkvertrag die tatsächlich vorgesehenen Komponenten eindeutig benennen: Profilqualität, Dachform, Glasaufbau, statische Anforderungen, Wandbefestigung, Anschlussbleche, Bodenaufbau, Abdichtung, Beschattung und Lüftung. Auch Ausschlüsse müssen ausdrücklich im Vertrag stehen, beispielsweise wenn Bodenarbeiten nicht Teil des Auftrags sind. So wird vermieden, dass einzelne Bestandteile später als unerwartete Mehrleistung behandelt werden. Ergänzend zur technischen Leistungsbeschreibung sollten Beginn, Zwischenstände, Endtermin und die Regelungen bei Verzug festgehalten werd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Leistungsumfang vor der Montage konkret festlegen</a:t>
            </a:r>
          </a:p>
        </p:txBody>
      </p:sp>
      <p:sp>
        <p:nvSpPr>
          <p:cNvPr id="3" name="Content Placeholder 2"/>
          <p:cNvSpPr>
            <a:spLocks noGrp="1"/>
          </p:cNvSpPr>
          <p:nvPr>
            <p:ph idx="1"/>
          </p:nvPr>
        </p:nvSpPr>
        <p:spPr/>
        <p:txBody>
          <a:bodyPr/>
          <a:lstStyle/>
          <a:p>
            <a:pPr>
              <a:defRPr sz="1800"/>
            </a:pPr>
            <a:r>
              <a:t>en. Besonders wichtig ist außerdem, was geschieht, wenn der vorhandene Wandaufbau vom angenommenen Zustand abweicht.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Schnittstellen und Verantwortlichkeiten eindeutig zuordnen</a:t>
            </a:r>
          </a:p>
        </p:txBody>
      </p:sp>
      <p:sp>
        <p:nvSpPr>
          <p:cNvPr id="3" name="Content Placeholder 2"/>
          <p:cNvSpPr>
            <a:spLocks noGrp="1"/>
          </p:cNvSpPr>
          <p:nvPr>
            <p:ph idx="1"/>
          </p:nvPr>
        </p:nvSpPr>
        <p:spPr/>
        <p:txBody>
          <a:bodyPr/>
          <a:lstStyle/>
          <a:p>
            <a:pPr>
              <a:defRPr sz="1800"/>
            </a:pPr>
            <a:r>
              <a:t>Vor Baubeginn muss klar sein, wer Fundamentplan, Aufmaßprüfung, Stromanschluss und Abdichtung verantwortet. Unklare Übergänge zwischen den beteiligten Gewerken sind eine häufige Quelle von Verzögerungen und nachträglichen Abstimmungen. Neben den Namen der Verantwortlichen sollten im Vertrag auch die jeweils erwarteten Leistungen und Abhängigkeiten stehen. Auf diese Weise lässt sich besser erkennen, ob eine Verzögerung in einer bestimmten Schnittstelle liegt und welche Schritte für die weitere Bearbeitung erforderlich sind. Die konkreten vertraglichen Anforderungen fasst der weiterführende Ratgeber zu Werkvertrag und Abnahme für den Wintergart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Schnittstellen und Verantwortlichkeiten eindeutig zuordnen</a:t>
            </a:r>
          </a:p>
        </p:txBody>
      </p:sp>
      <p:sp>
        <p:nvSpPr>
          <p:cNvPr id="3" name="Content Placeholder 2"/>
          <p:cNvSpPr>
            <a:spLocks noGrp="1"/>
          </p:cNvSpPr>
          <p:nvPr>
            <p:ph idx="1"/>
          </p:nvPr>
        </p:nvSpPr>
        <p:spPr/>
        <p:txBody>
          <a:bodyPr/>
          <a:lstStyle/>
          <a:p>
            <a:pPr>
              <a:defRPr sz="1800"/>
            </a:pPr>
            <a:r>
              <a:t>en am Bestandshaus zusammen.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Die Abnahme als strukturierten Prüftermin vorbereiten</a:t>
            </a:r>
          </a:p>
        </p:txBody>
      </p:sp>
      <p:sp>
        <p:nvSpPr>
          <p:cNvPr id="3" name="Content Placeholder 2"/>
          <p:cNvSpPr>
            <a:spLocks noGrp="1"/>
          </p:cNvSpPr>
          <p:nvPr>
            <p:ph idx="1"/>
          </p:nvPr>
        </p:nvSpPr>
        <p:spPr/>
        <p:txBody>
          <a:bodyPr/>
          <a:lstStyle/>
          <a:p>
            <a:pPr>
              <a:defRPr sz="1800"/>
            </a:pPr>
            <a:r>
              <a:t>Vor dem Abnahmetermin sollten Auftraggeber und Fachbetrieb die vorhandenen Unterlagen together prüfen. Dazu gehören Angebot, Auftragsbestätigung, Ausführungspläne, Nachträge, Vertrag sowie eine Liste der während der Bauphase offenen Punkte. Messwerkzeuge für Maße, lichte Weiten und Höhen sowie ein Foto- oder Smartphone für die Dokumentation erleichtern die gemeinsame Begehung. Im Protokoll gehören Datum, Uhrzeit, Witterung, anwesende Personen, Anschrift und Vertragsnummer. Anschließend wird jeder Prüfbereich einzeln bewertet: ohne Mangel, mit einem beschriebenen Mangel oder nicht prüfbar. Eine Checkliste zur Vorbereitung der Abnahme bietet 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Die Abnahme als strukturierten Prüftermin vorbereiten</a:t>
            </a:r>
          </a:p>
        </p:txBody>
      </p:sp>
      <p:sp>
        <p:nvSpPr>
          <p:cNvPr id="3" name="Content Placeholder 2"/>
          <p:cNvSpPr>
            <a:spLocks noGrp="1"/>
          </p:cNvSpPr>
          <p:nvPr>
            <p:ph idx="1"/>
          </p:nvPr>
        </p:nvSpPr>
        <p:spPr/>
        <p:txBody>
          <a:bodyPr/>
          <a:lstStyle/>
          <a:p>
            <a:pPr>
              <a:defRPr sz="1800"/>
            </a:pPr>
            <a:r>
              <a:t>r ergänzende Beitrag zum Abnahmeprotokoll.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Technische Punkte bei der Begehung konkret erfassen</a:t>
            </a:r>
          </a:p>
        </p:txBody>
      </p:sp>
      <p:sp>
        <p:nvSpPr>
          <p:cNvPr id="3" name="Content Placeholder 2"/>
          <p:cNvSpPr>
            <a:spLocks noGrp="1"/>
          </p:cNvSpPr>
          <p:nvPr>
            <p:ph idx="1"/>
          </p:nvPr>
        </p:nvSpPr>
        <p:spPr/>
        <p:txBody>
          <a:bodyPr/>
          <a:lstStyle/>
          <a:p>
            <a:pPr>
              <a:defRPr sz="1800"/>
            </a:pPr>
            <a:r>
              <a:t>Die Prüfung sollte sich an den sichtbaren und funktional relevanten Bauteilen orientieren. Für Fundament und Bodenaufbau lassen sich Maße und Ebenheit festhalten, am Wand- und Fassadenanschluss die Dichtigkeit beurteilen und an der Dachfläche Gefälle sowie Wasserführung prüfen. Bei der Verglasung werden Scheibenaufbau, Stärke, Kanten und Dichtungen kontrolliert. Lüftungselemente, Motoren und Steuerung sind auf ihre Funktion zu testen; bei Beschattung gehören Endlagen und Verriegelung zur Prüfung. Auch der Stromanschluss und die Erdung im Bereich der Hülle sollten berücksichtigt werden. Ergebnisse und nicht prüfbare Bereiche werden konkret zug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Technische Punkte bei der Begehung konkret erfassen</a:t>
            </a:r>
          </a:p>
        </p:txBody>
      </p:sp>
      <p:sp>
        <p:nvSpPr>
          <p:cNvPr id="3" name="Content Placeholder 2"/>
          <p:cNvSpPr>
            <a:spLocks noGrp="1"/>
          </p:cNvSpPr>
          <p:nvPr>
            <p:ph idx="1"/>
          </p:nvPr>
        </p:nvSpPr>
        <p:spPr/>
        <p:txBody>
          <a:bodyPr/>
          <a:lstStyle/>
          <a:p>
            <a:pPr>
              <a:defRPr sz="1800"/>
            </a:pPr>
            <a:r>
              <a:t>eordnet, damit aus dem Termin eine nachvollziehbare Grundlage für die weitere Arbeit entsteht.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Restarbeiten, Unterlagen und spätere Nutzung sichern</a:t>
            </a:r>
          </a:p>
        </p:txBody>
      </p:sp>
      <p:sp>
        <p:nvSpPr>
          <p:cNvPr id="3" name="Content Placeholder 2"/>
          <p:cNvSpPr>
            <a:spLocks noGrp="1"/>
          </p:cNvSpPr>
          <p:nvPr>
            <p:ph idx="1"/>
          </p:nvPr>
        </p:nvSpPr>
        <p:spPr/>
        <p:txBody>
          <a:bodyPr/>
          <a:lstStyle/>
          <a:p>
            <a:pPr>
              <a:defRPr sz="1800"/>
            </a:pPr>
            <a:r>
              <a:t>Offene Arbeiten gehören mit einer klaren Frist und einer verantwortlichen Person in das Protokoll. Bei wesentlichen Mängeln kann die Abnahme verweigert oder ausdrücklich unter Vorbehalt erklärt werden; dieser Vorbehalt sollte unbedingt schriftlich festgehalten werden. Nach Fertigstellung der Restarbeiten ist eine gemeinsame Endkontrolle sinnvoll. Anschließend wird eine feste Ablage eingerichtet. Aufbewahrt werden sollten unter anderem Vertrag und Nachträge, unterschriebenes Abnahmeprotokoll, Prüfprotokolle, Lieferscheine, Profil- und Scheibenkennzeichnungen, Bedienungsanleitungen, Wartungshinweise, Rechnungen und Zahlungsbelege. Diese Unterla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Restarbeiten, Unterlagen und spätere Nutzung sichern</a:t>
            </a:r>
          </a:p>
        </p:txBody>
      </p:sp>
      <p:sp>
        <p:nvSpPr>
          <p:cNvPr id="3" name="Content Placeholder 2"/>
          <p:cNvSpPr>
            <a:spLocks noGrp="1"/>
          </p:cNvSpPr>
          <p:nvPr>
            <p:ph idx="1"/>
          </p:nvPr>
        </p:nvSpPr>
        <p:spPr/>
        <p:txBody>
          <a:bodyPr/>
          <a:lstStyle/>
          <a:p>
            <a:pPr>
              <a:defRPr sz="1800"/>
            </a:pPr>
            <a:r>
              <a:t>gen erleichtern Pflege, Gewährleistungsfragen, Versicherungsfälle und spätere Arbeiten an der Anlage.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in Hamburg: Vertrag, Abnahme und Dokumentation sauber absichern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