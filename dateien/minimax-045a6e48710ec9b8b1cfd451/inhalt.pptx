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wintergarten/-/blob/f191cf567e04dbc08666e6e667840e24c3a5b499/_posts/2026-10-16-photovoltaik-wintergarten-glasdach.md" TargetMode="External"/><Relationship Id="rId3" Type="http://schemas.openxmlformats.org/officeDocument/2006/relationships/hyperlink" Target="https://holzundhaus.github.io/040wintergarten/dateien/minimax-045a6e48710ec9b8b1cfd45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im Wintergarten-Glasdach · Erklärende Präsentation</a:t>
            </a:r>
          </a:p>
        </p:txBody>
      </p:sp>
      <p:sp>
        <p:nvSpPr>
          <p:cNvPr id="3" name="Content Placeholder 2"/>
          <p:cNvSpPr>
            <a:spLocks noGrp="1"/>
          </p:cNvSpPr>
          <p:nvPr>
            <p:ph idx="1"/>
          </p:nvPr>
        </p:nvSpPr>
        <p:spPr/>
        <p:txBody>
          <a:bodyPr/>
          <a:lstStyle/>
          <a:p>
            <a:r>
              <a:t>Überblick: Dieser Ratgeber beleuchtet die wesentlichen Planungsschritte für die Integration einer Photovoltaikanlage in ein Wintergarten-Glasdach. Von der technischen Machbarkeit bis zu Genehmigungsfragen erfahren Sie, welche Aspekte vor der Umsetzung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Technische Voraussetzungen frühzeitig klären</a:t>
            </a:r>
          </a:p>
        </p:txBody>
      </p:sp>
      <p:sp>
        <p:nvSpPr>
          <p:cNvPr id="3" name="Content Placeholder 2"/>
          <p:cNvSpPr>
            <a:spLocks noGrp="1"/>
          </p:cNvSpPr>
          <p:nvPr>
            <p:ph idx="1"/>
          </p:nvPr>
        </p:nvSpPr>
        <p:spPr/>
        <p:txBody>
          <a:bodyPr/>
          <a:lstStyle/>
          <a:p>
            <a:pPr>
              <a:defRPr sz="1800"/>
            </a:pPr>
            <a:r>
              <a:t>Bevor eine Photovoltaikanlage auf dem Glasdach geplant wird, müssen mehrere bauliche Faktoren bewertet werden. Die Tragfähigkeit der bestehenden Konstruktion muss die Zusatzlast der Module aufnehmen können. Bei Neubauten lässt sich die Statik von Anfang an auf die Solarnutzung auslegen, während bei Bestandswintergärten eine nachträgliche Prüfung erforderlich wird. Auch die Dachneigung spielt eine entscheidende Rolle: Steilere Winkel begünstigen den Ertrag und die Selbstreinigung, flachere Winkel erzeugen gleichmäßigere Lichtverhältnisse, können aber die Hinterlüftung der Module beeinträchtigen. Eine Neigung unter 15 Grad erfordert besondere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Technische Voraussetzungen frühzeitig klären</a:t>
            </a:r>
          </a:p>
        </p:txBody>
      </p:sp>
      <p:sp>
        <p:nvSpPr>
          <p:cNvPr id="3" name="Content Placeholder 2"/>
          <p:cNvSpPr>
            <a:spLocks noGrp="1"/>
          </p:cNvSpPr>
          <p:nvPr>
            <p:ph idx="1"/>
          </p:nvPr>
        </p:nvSpPr>
        <p:spPr/>
        <p:txBody>
          <a:bodyPr/>
          <a:lstStyle/>
          <a:p>
            <a:pPr>
              <a:defRPr sz="1800"/>
            </a:pPr>
            <a:r>
              <a:t>ufmerksamkeit bei der Luftzirkulation, da unzureichende Kühlung den Wirkungsgrad mindern kann. Die Glasart – ob ESG, VSG oder Isolierverglasung – bestimmt zudem, wie und wo Befestigungspunkte gesetzt werden dürfen, ohne die Sicherheitseigenschaften der Verglasung zu beeinträchtigen.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Solarmodule für Glasflächen</a:t>
            </a:r>
          </a:p>
        </p:txBody>
      </p:sp>
      <p:sp>
        <p:nvSpPr>
          <p:cNvPr id="3" name="Content Placeholder 2"/>
          <p:cNvSpPr>
            <a:spLocks noGrp="1"/>
          </p:cNvSpPr>
          <p:nvPr>
            <p:ph idx="1"/>
          </p:nvPr>
        </p:nvSpPr>
        <p:spPr/>
        <p:txBody>
          <a:bodyPr/>
          <a:lstStyle/>
          <a:p>
            <a:pPr>
              <a:defRPr sz="1800"/>
            </a:pPr>
            <a:r>
              <a:t>Nicht jedes Solarmodul eignet sich gleichermaßen für die Montage auf einem Glasdach. TRANSPARENTE oder halbtransparente Module ermöglichen einen gewissen Lichteinfall in den Wintergarten und verändern somit das Raumklima weniger stark als herkömmliche, opake Module. Die Wahl des Modultyps beeinflusst sowohl die Lichtverhältnisse als auch den Stromertrag. Dünnschichtmodule etwa bieten eine bessere Leistung bei diffusem Licht und verändern die Optik des Wintergartens kaum, während kristalline Module einen höheren Wirkungsgrad aufweisen, aber mehr Licht blockieren. Die Abstimmung zwischen gewünschtem Lichteinfall und energetischem Ziel sollte 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Solarmodule für Glasflächen</a:t>
            </a:r>
          </a:p>
        </p:txBody>
      </p:sp>
      <p:sp>
        <p:nvSpPr>
          <p:cNvPr id="3" name="Content Placeholder 2"/>
          <p:cNvSpPr>
            <a:spLocks noGrp="1"/>
          </p:cNvSpPr>
          <p:nvPr>
            <p:ph idx="1"/>
          </p:nvPr>
        </p:nvSpPr>
        <p:spPr/>
        <p:txBody>
          <a:bodyPr/>
          <a:lstStyle/>
          <a:p>
            <a:pPr>
              <a:defRPr sz="1800"/>
            </a:pPr>
            <a:r>
              <a:t>her gemeinsam mit einem Fachplaner erfolgen, der beide Aspekte in die Planung einbezieht.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Genehmigungen und baurechtliche Anforderungen</a:t>
            </a:r>
          </a:p>
        </p:txBody>
      </p:sp>
      <p:sp>
        <p:nvSpPr>
          <p:cNvPr id="3" name="Content Placeholder 2"/>
          <p:cNvSpPr>
            <a:spLocks noGrp="1"/>
          </p:cNvSpPr>
          <p:nvPr>
            <p:ph idx="1"/>
          </p:nvPr>
        </p:nvSpPr>
        <p:spPr/>
        <p:txBody>
          <a:bodyPr/>
          <a:lstStyle/>
          <a:p>
            <a:pPr>
              <a:defRPr sz="1800"/>
            </a:pPr>
            <a:r>
              <a:t>Die Installation von Solarmodulen auf einem Wintergarten-Glasdach kann genehmigungspflichtig sein. In vielen Fällen genügt eine Anzeige bei der zuständigen Behörde, sofern die Anlage bestimmte Größenvorgaben nicht überschreitet. Dennoch empfiehlt sich vor Beginn der Planung eine Abstimmung mit dem örtlichen Bauamt, um Auflagen zu klären. Besondere Vorschriften gelten für den Denkmalschutz oder besondere Bebauungspläne, die das Erscheinungsbild von Dächern reglementieren. Auch die Netzanbindung erfordert eine Meldung beim Netzbetreiber, der die technischen Voraussetzungen für die Einspeisung prüft. Ein Fachinstallateur kann die erforderlichen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Genehmigungen und baurechtliche Anforderungen</a:t>
            </a:r>
          </a:p>
        </p:txBody>
      </p:sp>
      <p:sp>
        <p:nvSpPr>
          <p:cNvPr id="3" name="Content Placeholder 2"/>
          <p:cNvSpPr>
            <a:spLocks noGrp="1"/>
          </p:cNvSpPr>
          <p:nvPr>
            <p:ph idx="1"/>
          </p:nvPr>
        </p:nvSpPr>
        <p:spPr/>
        <p:txBody>
          <a:bodyPr/>
          <a:lstStyle/>
          <a:p>
            <a:pPr>
              <a:defRPr sz="1800"/>
            </a:pPr>
            <a:r>
              <a:t>Schritte koordinieren und sicherstellen, dass alle Vorschriften eingehalten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Wirtschaftlichkeit und Fördermöglichkeiten</a:t>
            </a:r>
          </a:p>
        </p:txBody>
      </p:sp>
      <p:sp>
        <p:nvSpPr>
          <p:cNvPr id="3" name="Content Placeholder 2"/>
          <p:cNvSpPr>
            <a:spLocks noGrp="1"/>
          </p:cNvSpPr>
          <p:nvPr>
            <p:ph idx="1"/>
          </p:nvPr>
        </p:nvSpPr>
        <p:spPr/>
        <p:txBody>
          <a:bodyPr/>
          <a:lstStyle/>
          <a:p>
            <a:pPr>
              <a:defRPr sz="1800"/>
            </a:pPr>
            <a:r>
              <a:t>Die Wirtschaftlichkeit einer Photovoltaikanlage auf dem Wintergarten-Glasdach hängt von mehreren Faktoren ab: der verfügbaren Fläche, der Ausrichtung, dem lokalen Strompreis und der Einspeisevergütung. Durch die Mehrfachnutzung der Fläche – gleichzeitig als Dach, Lichtquelle und Stromerzeuger – kann der spezifische Flächennutzungswert besonders günstig ausfallen. Förderprogramme der KfW oder regionaler Energieversorger können die Anfangsinvestition reduzieren. Eine detaillierte Ertragsprognose, die Verschattung, Ausrichtung und klimatische Bedingungen berücksichtigt, hilft dabei, realistische Erwartungen an die Rendite zu entwickeln. Die Amor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Wirtschaftlichkeit und Fördermöglichkeiten</a:t>
            </a:r>
          </a:p>
        </p:txBody>
      </p:sp>
      <p:sp>
        <p:nvSpPr>
          <p:cNvPr id="3" name="Content Placeholder 2"/>
          <p:cNvSpPr>
            <a:spLocks noGrp="1"/>
          </p:cNvSpPr>
          <p:nvPr>
            <p:ph idx="1"/>
          </p:nvPr>
        </p:nvSpPr>
        <p:spPr/>
        <p:txBody>
          <a:bodyPr/>
          <a:lstStyle/>
          <a:p>
            <a:pPr>
              <a:defRPr sz="1800"/>
            </a:pPr>
            <a:r>
              <a:t>tisationszeit liegt typischerweise zwischen acht und zwölf Jahren, kann aber je nach Rahmenbedingungen variieren.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langfristige Wartung</a:t>
            </a:r>
          </a:p>
        </p:txBody>
      </p:sp>
      <p:sp>
        <p:nvSpPr>
          <p:cNvPr id="3" name="Content Placeholder 2"/>
          <p:cNvSpPr>
            <a:spLocks noGrp="1"/>
          </p:cNvSpPr>
          <p:nvPr>
            <p:ph idx="1"/>
          </p:nvPr>
        </p:nvSpPr>
        <p:spPr/>
        <p:txBody>
          <a:bodyPr/>
          <a:lstStyle/>
          <a:p>
            <a:pPr>
              <a:defRPr sz="1800"/>
            </a:pPr>
            <a:r>
              <a:t>Eine Photovoltaikanlage auf dem Glasdach erfordert regelmäßige Pflege, um den Ertrag dauerhaft zu sichern. Verschmutzungen durch Laub, Pollen oder Staub reduzieren den Wirkungsgrad spürbar und sollten mindestens ein- bis zweimal jährlich entfernt werden. Die Zugänglichkeit des Daches spielt dabei eine wichtige Rolle: Das Glasdach muss betretbar oder mit geeigneten Reinigungszugängen versehen sein. Auch die elektrischen Komponenten – Verkabelung, Wechselrichter, Anschlussdose – sollten in regelmäßigen Intervallen geprüft werden, um Sicherheitsrisiken und Ertragsverluste durch Defekte frühzeitig zu erkennen. Ein Wartungsvertrag mit einem Fachbe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langfristige Wartung</a:t>
            </a:r>
          </a:p>
        </p:txBody>
      </p:sp>
      <p:sp>
        <p:nvSpPr>
          <p:cNvPr id="3" name="Content Placeholder 2"/>
          <p:cNvSpPr>
            <a:spLocks noGrp="1"/>
          </p:cNvSpPr>
          <p:nvPr>
            <p:ph idx="1"/>
          </p:nvPr>
        </p:nvSpPr>
        <p:spPr/>
        <p:txBody>
          <a:bodyPr/>
          <a:lstStyle/>
          <a:p>
            <a:pPr>
              <a:defRPr sz="1800"/>
            </a:pPr>
            <a:r>
              <a:t>trieb kann diese regelmäßigen Checks übernehmen und die Langlebigkeit der Anlage unterstützen.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im Wintergarten-Glasdach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