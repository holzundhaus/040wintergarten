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40wintergarten.tumblr.com/post/830894730583932928/wintergarten-pflege-wartung-jahreslauf-hamburg" TargetMode="External"/><Relationship Id="rId3" Type="http://schemas.openxmlformats.org/officeDocument/2006/relationships/hyperlink" Target="https://holzundhaus.github.io/040wintergarten/dateien/minimax-f5a2ea9f61dc8d77d699bed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pflegen und warten: ein saisonaler Ablauf für Hamburg · Erklärende Präsentation</a:t>
            </a:r>
          </a:p>
        </p:txBody>
      </p:sp>
      <p:sp>
        <p:nvSpPr>
          <p:cNvPr id="3" name="Content Placeholder 2"/>
          <p:cNvSpPr>
            <a:spLocks noGrp="1"/>
          </p:cNvSpPr>
          <p:nvPr>
            <p:ph idx="1"/>
          </p:nvPr>
        </p:nvSpPr>
        <p:spPr/>
        <p:txBody>
          <a:bodyPr/>
          <a:lstStyle/>
          <a:p>
            <a:r>
              <a:t>Überblick: Ein Wintergarten in Hamburg ist das ganze Jahr über wechselnden Bedingungen ausgesetzt – von kalten Wintern mit Schneelast bis zu warmen Sommern mit intensiver Sonneneinstrahlung. Ohne einen durchdachten Pflege- und Wartungsplan können aus kleinen Mängeln schnell größere Probleme entstehen. Dieser Ratgeber zeigt, welche Aufgaben in jeder Jahreszeit anfallen und wie Eigentümer die Lebensdauer ihrer Verglasung, Dichtungen und Beschattungssysteme aktiv schützen.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 saisonaler Wartungsplan sinnvoll ist</a:t>
            </a:r>
          </a:p>
        </p:txBody>
      </p:sp>
      <p:sp>
        <p:nvSpPr>
          <p:cNvPr id="3" name="Content Placeholder 2"/>
          <p:cNvSpPr>
            <a:spLocks noGrp="1"/>
          </p:cNvSpPr>
          <p:nvPr>
            <p:ph idx="1"/>
          </p:nvPr>
        </p:nvSpPr>
        <p:spPr/>
        <p:txBody>
          <a:bodyPr/>
          <a:lstStyle/>
          <a:p>
            <a:pPr>
              <a:defRPr sz="1800"/>
            </a:pPr>
            <a:r>
              <a:t>Hamburgs Klima bringt es mit sich, dass Wintergärten besonders beansprucht werden: hohe Luftfeuchtigkeit, starker Wind, Laubfall im Herbst und Temperaturextreme zwischen den Jahreszeiten. Ein jahreszeitlich gegliederter Plan hilft dabei, wiederkehrende Aufgaben systematisch abzuarbeiten und Schwachstellen frühzeitig zu erkennen. Anders als bei einmaligen Renovierungsarbeiten handelt es sich bei der laufenden Pflege um regelmäßige Handgriffe, die teils in Eigenleistung, teils durch einen Fachbetrieb erfolgen sollten. So bleibt die Bausubstanz erhalten und kostspielige Notfallreparaturen werden vermieden.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Frühjahrscheck: Dichtungen, Beschattung und Entwässerung</a:t>
            </a:r>
          </a:p>
        </p:txBody>
      </p:sp>
      <p:sp>
        <p:nvSpPr>
          <p:cNvPr id="3" name="Content Placeholder 2"/>
          <p:cNvSpPr>
            <a:spLocks noGrp="1"/>
          </p:cNvSpPr>
          <p:nvPr>
            <p:ph idx="1"/>
          </p:nvPr>
        </p:nvSpPr>
        <p:spPr/>
        <p:txBody>
          <a:bodyPr/>
          <a:lstStyle/>
          <a:p>
            <a:pPr>
              <a:defRPr sz="1800"/>
            </a:pPr>
            <a:r>
              <a:t>Nach dem Winter zeigen sich zuerst die Folgen von Frost und Feuchtigkeit. Dichtungen an Profilen und Wandanschlüssen sollten auf Versprödung, Risse oder fehlende Stücke geprüft werden. Bewegliche Elemente wie Schiebe- oder Falttüren lassen sich auf Leichtgängigkeit testen. Beschattungsanlagen wie Markisen und Rollläden sollten vor der warmen Jahreszeit probeweise gefahren werden, um sicherzustellen, dass Endlagen sauber anhalten. Gleichzeitig ist die Entwässerung zu kontrollieren: Rinnen, Fallrohre und Wasserspeier sind häufig durch Pollen und Laub vom Vorjahr verstopft und müssen vor dem ersten Sommerregen frei sein.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Sommermontoring: Glasreinigung und Hitzeschutz</a:t>
            </a:r>
          </a:p>
        </p:txBody>
      </p:sp>
      <p:sp>
        <p:nvSpPr>
          <p:cNvPr id="3" name="Content Placeholder 2"/>
          <p:cNvSpPr>
            <a:spLocks noGrp="1"/>
          </p:cNvSpPr>
          <p:nvPr>
            <p:ph idx="1"/>
          </p:nvPr>
        </p:nvSpPr>
        <p:spPr/>
        <p:txBody>
          <a:bodyPr/>
          <a:lstStyle/>
          <a:p>
            <a:pPr>
              <a:defRPr sz="1800"/>
            </a:pPr>
            <a:r>
              <a:t>Im Sommer steht die Frage im Mittelpunkt, welche Glasflächen erreichbar sind und welche einen Fachbetrieb erfordern. Verschmutzungen auf ESG- oder VSG-Verglasung können bei starker Sonne zu Hitzestau und Spannungen führen. Erreichbare Flächen lassen sich mit geeigneten Reinigungsmitteln säubern, während Dachscheiben in der Regel nicht in Eigenregie gereinigt werden sollten. Gleichzeitig zeigen sich in dieser Jahreszeit Hitzepunkte im Wintergarten: Wer Notizen zu Tageszeit und betroffener Stelle macht, kann die Beschattung im Folgejahr gezielt anpassen. Das Zusammenspiel aus Sonnenschutz und Lüftung bildet dabei das zentrale Klimakonzept.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Herbstvorbereitung: Laub, Algen und Unterlagen</a:t>
            </a:r>
          </a:p>
        </p:txBody>
      </p:sp>
      <p:sp>
        <p:nvSpPr>
          <p:cNvPr id="3" name="Content Placeholder 2"/>
          <p:cNvSpPr>
            <a:spLocks noGrp="1"/>
          </p:cNvSpPr>
          <p:nvPr>
            <p:ph idx="1"/>
          </p:nvPr>
        </p:nvSpPr>
        <p:spPr/>
        <p:txBody>
          <a:bodyPr/>
          <a:lstStyle/>
          <a:p>
            <a:pPr>
              <a:defRPr sz="1800"/>
            </a:pPr>
            <a:r>
              <a:t>Der Herbst ist die arbeitsreichste Jahreszeit für die Wintergartenpflege. Rinnen und Wasserspeier müssen regelmäßig von Laub befreit werden, damit Regenwasser kontrolliert ablaufen kann. Begehbare Flächen sollten von Algen und Moos gereinigt werden, um Rutschgefahr zu minimieren. Beschattungselemente sind auf Winterfestigkeit zu prüfen. Außerdem bietet sich an, die Dokumentation zu sortieren: Wartungsprotokolle, Prüfberichte und Übergabeunterlagen des Fachbetriebs sind die Grundlage für spätere Entscheidungen, etwa bei Scheibenersatz oder energetischen Verbesserungen.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Winterbeobachtung: Ruhephase sinnvoll nutzen</a:t>
            </a:r>
          </a:p>
        </p:txBody>
      </p:sp>
      <p:sp>
        <p:nvSpPr>
          <p:cNvPr id="3" name="Content Placeholder 2"/>
          <p:cNvSpPr>
            <a:spLocks noGrp="1"/>
          </p:cNvSpPr>
          <p:nvPr>
            <p:ph idx="1"/>
          </p:nvPr>
        </p:nvSpPr>
        <p:spPr/>
        <p:txBody>
          <a:bodyPr/>
          <a:lstStyle/>
          <a:p>
            <a:pPr>
              <a:defRPr sz="1800"/>
            </a:pPr>
            <a:r>
              <a:t>Schwere Wartungsarbeiten am Dach sind bei niedrigen Temperaturen und Schneelast oft nicht sinnvoll. Stattdessen eignet sich die ruhige Winterzeit für gezielte Beobachtung: Wann tritt Kondenswasser an welchen Stellen auf? Fühlen sich bestimmte Dichtungen bei Frost auffällig kalt an? Wie verhält sich die Beschattung unter Schneelast? Diese Notizen fließen direkt in die Frühjahrsprüfung ein und schließen den jährlichen Pflegezyklus ab. So entsteht ein kontinuierlicher Verbesserungsprozess, der die Funktionstüchtigkeit des Wintergartens langfristig sichert.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Eigenleistung und Fachbetrieb: Was gehört in wessen Hand</a:t>
            </a:r>
          </a:p>
        </p:txBody>
      </p:sp>
      <p:sp>
        <p:nvSpPr>
          <p:cNvPr id="3" name="Content Placeholder 2"/>
          <p:cNvSpPr>
            <a:spLocks noGrp="1"/>
          </p:cNvSpPr>
          <p:nvPr>
            <p:ph idx="1"/>
          </p:nvPr>
        </p:nvSpPr>
        <p:spPr/>
        <p:txBody>
          <a:bodyPr/>
          <a:lstStyle/>
          <a:p>
            <a:pPr>
              <a:defRPr sz="1800"/>
            </a:pPr>
            <a:r>
              <a:t>Viele Pflegearbeiten lassen sich in Eigenregie erledigen: Sichtprüfungen der Dichtungen, Reinigung erreichbarer Glasflächen, Laubentfernung aus Rinnen und die Beobachtung im Winter sind typische Hausmeistertätigkeiten. Eingriffe an der Verglasung, an sicherheitsrelevanten Beschlägen sowie an elektrischen Antrieben von Markisen und Lüftungselementen erfordern dagegen Fachwissen und sollten nicht in Eigenregie durchgeführt werden. Auch die Frage, wie Dachflächen für Reinigung und Austausch dauerhaft erreichbar bleiben, ist Teil der professionellen Planung. Die klare Trennung zwischenmachbaren Aufgaben und Facharbeit schützt sowohl die Sicherhei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Eigenleistung und Fachbetrieb: Was gehört in wessen Hand</a:t>
            </a:r>
          </a:p>
        </p:txBody>
      </p:sp>
      <p:sp>
        <p:nvSpPr>
          <p:cNvPr id="3" name="Content Placeholder 2"/>
          <p:cNvSpPr>
            <a:spLocks noGrp="1"/>
          </p:cNvSpPr>
          <p:nvPr>
            <p:ph idx="1"/>
          </p:nvPr>
        </p:nvSpPr>
        <p:spPr/>
        <p:txBody>
          <a:bodyPr/>
          <a:lstStyle/>
          <a:p>
            <a:pPr>
              <a:defRPr sz="1800"/>
            </a:pPr>
            <a:r>
              <a:t>t als auch die Gewährleistungsansprüche.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pflegen und warten: ein saisonaler Ablauf für Hamburg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